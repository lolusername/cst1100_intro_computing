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Welcome to Week 14. By now you have chosen a research topic and gathered at least a couple of credible sources. Today we shift from thinking to drafting. Keep your MLA-formatted document open so you can type as we go. The goal is to leave with two strong pieces: an introduction that clearly states your thesis and a first body paragraph that uses at least one source with correct MLA citation. Midway through, you will get feedback from a partner. Think of this class as building a blueprint: we are organizing your ideas so a reader with no background can follow your reasoning. You do not need programming knowledge; focus on clear explanations, logical connections, and evidence from reputable sources like major newspapers, government reports, or peer-reviewed articles.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Three goals guide us. First, sharpen your thesis so it is arguable and specific. Purdue OWL reminds us that a thesis must make a claim someone could reasonably disagree with. Second, connect your topic to current news or policy updates so your paper feels timely and grounded—sources like The New York Times, Washington Post, Reuters, the FTC, or the EEOC provide credible material. Third, actually draft paragraphs and collect feedback. Writing early, even in rough form, makes revision faster and improves clarity. Today is practice in turning research notes into readable prose for a general college audience.</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Here is the flow. We start with a reminder of what a research paper needs: a clear thesis, organized paragraphs, and evidence cited in MLA style. Then we spotlight several common topics and link each to recent news so you see concrete angles. Next, you will draft your introduction and a first body paragraph inside your document. After that, you will swap introductions with a partner to check clarity and stakes. We finish by listing tonight’s homework so you can complete a full draft for next week. The pacing is flexible—quality over speed.</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In Week 12 you freewrote to pick a topic and a working claim. You also identified a few sources—maybe news articles, government reports, or academic pieces. Today, we convert that groundwork into paragraphs a reader can understand without prior knowledge. Remember: your audience is an educated peer who is not a programmer. Define key terms, avoid jargon, and show why your issue matters now.</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A thesis is the core argument of your paper. It must be arguable—someone could disagree—and not just a statement of fact. It should be specific about who, what, and where: for example, “NYC colleges should treat AI detectors as advisory tools because false positives harm multilingual students.” Scope matters: fit the claim into 4–6 pages by narrowing to a city, timeframe, or population. Purdue OWL emphasizes that a thesis should preview your reasoning path so readers know what to expect.</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Your introduction orients the reader. Start with a hook or framing detail: a statistic, short scenario, or question. Next, explain why the issue matters now—who is affected and what is at stake. Then present your research question or tension and end with your thesis. Aim for 5–7 sentences. Example structure: hook about a recent news event, one to two sentences on who is impacted, one sentence that names the problem, and a final sentence with your clear thesis. This matches MLA sample papers that place the thesis at the end of the introduction for clarity.</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Think of each body paragraph as a mini-argument. The topic sentence should be a claim, not a fact from a source—for instance, “AI detectors can unfairly target multilingual students.” Then bring in one piece of evidence, either a quote or a paraphrase, followed by an MLA in-text citation (author and page if available, or author and year for web sources). After the evidence, explain in your own words why it supports your thesis. End with a sentence that links to the next paragraph. Keep one main idea per paragraph so the reader can follow the logic.</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Use sources to support, not replace, your voice. Include one strong quote or paraphrase per paragraph to avoid overload. Introduce sources with signal phrases like “According to the Federal Trade Commission’s 2024 order” or “The EEOC guidance notes.” After presenting the evidence, explain its significance—what does it prove or illustrate? For paraphrases, you still need a citation. Reputable sources include major newspapers, government documents, peer-reviewed journals, and respected nonprofits (e.g., Electronic Frontier Foundation for privacy topics).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Generative AI raises new academic integrity questions. Universities are rewriting policies to clarify when tools like ChatGPT are allowed and how to disclose them. AI detectors have produced false positives, which can unfairly accuse students, especially multilingual writers. There is also debate about how to credit AI assistance—should students note model use in footnotes or acknowledgments? These angles let you argue about fairness, policy clarity, and ethical citation in an evolving landscape.</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Use timely examples. In 2023–24, educators reported Turnitin’s AI detector flagging genuine student writing, covered by outlets like Inside Higher Ed. The New York Times filed a 2023 lawsuit against OpenAI and Microsoft, arguing that training on Times content without permission violates copyright—use this to discuss authorship and attribution. Many campuses, such as the University of Michigan and MIT, have published GenAI classroom policies; these public documents are primary sources you can quote.</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Possible angles: analyze how a university’s honor code defines acceptable AI use and whether the language is specific enough; investigate equity by asking which students are most likely to be misflagged by detectors; explore citation ethics by comparing MLA guidelines with emerging recommendations for acknowledging AI assistance. Solid sources: university policy pages, Chronicle of Higher Education or Inside Higher Ed coverage, statements from OpenAI or the Times lawsuit filings, and MLA’s own guidance on citing digital tools.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Location data collected by mobile apps can reveal where people live, work, worship, or seek healthcare. App developers often include software development kits (SDKs) that send location information to data brokers. Some police departments have bought this data instead of obtaining warrants, which civil liberties groups argue skirts Fourth Amendment protections. After the Dobbs decision, the sensitivity of location and health data around clinics and protests increased, making this a timely and high-stakes topic.</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Cite current cases. In 2024, the Federal Trade Commission barred data broker X-Mode/Outlogic from selling precise location data, highlighting privacy risks (FTC press release). The FTC’s lawsuit against data broker Kochava continues, alleging unfair collection of sensitive location information. Investigations by The Wall Street Journal and The New York Times have detailed how law enforcement agencies purchase app-derived location data, raising constitutional questions. These sources provide credible, recent evidence to anchor your arguments.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Angles: analyze the legal tension between user consent in app terms and police use of purchased data without warrants; explain technically how SDKs embedded in weather or fitness apps collect and transmit location trails; examine community impact for clinics, protestors, or commuters. Reputable sources include FTC complaints and orders, Electronic Frontier Foundation explainers, Mozilla’s Privacy Not Included reviews, and reporting from The Verge, Washington Post, or Reuters. When discussing technical collection, define terms simply—SDKs are code bundles developers add that can send data to third parties.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Algorithmic tools can speed decisions but also reinforce bias. Employers use résumé screeners or online proctoring that may favor certain names, schools, or speech patterns. Police agencies use risk scores or surveillance tools that can target specific neighborhoods. New transparency and audit laws aim to check these systems. This topic lets you combine technology, ethics, and policy in a way that is understandable to non-programmers.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Current examples: New York City’s Local Law 144 requires bias audits for automated hiring tools and publishes summaries—great primary sources. In 2023, the U.S. Equal Employment Opportunity Commission issued guidance warning employers about discrimination risks in AI hiring. Chicago announced plans in 2024 to wind down its ShotSpotter gunshot detection contract after accuracy and bias concerns; this was covered by AP and local outlets. These events give you concrete cases to analyze fairness and accountability.</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Angles: evaluate whether audit reports under NYC’s law are transparent and thorough; present a case study of a résumé screener or remote proctoring tool and its documented issues; analyze equity impacts such as false positives tied to neighborhood, accent, or name. Sources include the text of Local Law 144, EEOC guidance, academic research on algorithmic fairness (e.g., papers from conferences like FAT*), and investigations by ProPublica or the Associated Press. Explain terms like “audit” as a systematic check for bias, not a financial review.</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Critical infrastructure—hospitals, pipelines, casinos—depends on software and networks. Ransomware attacks can shut down billing, fuel delivery, or hotel check-ins, creating real-world harm. A central debate is how much regulation is needed versus voluntary industry preparedness. This topic combines technology, business continuity, and public safety, making it accessible to non-programmers when explained with concrete incidents.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Recent incidents: In 2024, the Change Healthcare ransomware attack halted medical billing nationwide, reported by outlets like CNN and healthcare trade press. In 2023, MGM Resorts suffered days of outages after a ransomware incident, covered by Wired and major newspapers. The Colonial Pipeline attack in 2021 remains influential, leading to updated guidance for critical infrastructure from agencies like CISA. These examples show real consequences beyond the digital world.</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Angles: weigh the cost of cybersecurity investments against the downtime losses seen in these incidents; summarize regulator alerts from CISA or HHS that advise hospitals and utilities on preventing ransomware; examine the human factor—how phishing emails or weak passwords open the door. Sources: CISA advisories, FBI IC3 annual reports, healthcare security briefs, and reporting from Krebs on Security, The New York Times, or Reuters. Translate technical terms simply, e.g., ransomware is malicious software that encrypts files until a payment is made.</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Follow this sequence. First, finalize your thesis in one or two sentences: arguable, specific, and sized for a short paper. Second, write the introduction: start with a hook, explain why the issue matters now, and end with your thesis. Third, draft one body paragraph: topic sentence (claim), one quote or paraphrase with MLA citation, analysis in your own words, and a closing link. Keep sentences concise in the slide; use your document for fuller drafting. This mirrors how writers move from outline to first draft.</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Pair up (or form a trio if numbers are uneven). Exchange introductions only. As you read, ask: can you restate the topic and why it matters? Is the thesis easy to find and phrased as a claim? Highlight vague words like “many” or “a lot” and suggest specifics—who, where, when. Flag places that need a source. Offer one thing that’s working and one suggestion for clarity. Keep feedback respectful and focused on helping the writer communicate to a general audience.</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Use signal phrases to introduce sources: “According to the FTC order” or “The EEOC guidance states.” Follow with author and page if available; for web sources without pages, use author or organization. Avoid dropped quotes by surrounding them with your own sentences before and after. Every in-text citation must correspond to a Works Cited entry, even in drafts. Purdue OWL has clear examples of in-text citations and hanging indents—keep that tab open for quick checks.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pPr>
              <a:defRPr sz="1200">
                <a:latin typeface="Source Sans Pro"/>
              </a:defRPr>
            </a:pPr>
          </a:p>
          <a:p>
            <a:pPr>
              <a:defRPr sz="1200">
                <a:latin typeface="Source Sans Pro"/>
              </a:defRPr>
            </a:pPr>
            <a:r>
              <a:t>Tonight, revise your introduction and first body paragraph using peer feedback. Draft at least one more body paragraph and add a provisional Works Cited page for any sources cited. Complete an initial full draft to bring next week for peer review. Aim for balance: clear claims, evidence from credible sources, and your own analysis connecting evidence back to the thesis. Remember to define technical terms and keep explanations accessible to non-specialists.</a:t>
            </a:r>
          </a:p>
          <a:p>
            <a:pPr>
              <a:defRPr sz="1200">
                <a:latin typeface="Source Sans Pro"/>
              </a:defRPr>
            </a:pP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Week 14 | Research Topic Review &amp; Drafting</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Bring topic + sources</a:t>
            </a:r>
          </a:p>
          <a:p>
            <a:pPr>
              <a:spcAft>
                <a:spcPts val="800"/>
              </a:spcAft>
              <a:defRPr sz="2200">
                <a:solidFill>
                  <a:srgbClr val="F7F7F2"/>
                </a:solidFill>
                <a:latin typeface="Source Sans Pro"/>
              </a:defRPr>
            </a:pPr>
            <a:r>
              <a:t>Goal: intro + first body paragraph</a:t>
            </a:r>
          </a:p>
          <a:p>
            <a:pPr>
              <a:spcAft>
                <a:spcPts val="800"/>
              </a:spcAft>
              <a:defRPr sz="2200">
                <a:solidFill>
                  <a:srgbClr val="F7F7F2"/>
                </a:solidFill>
                <a:latin typeface="Source Sans Pro"/>
              </a:defRPr>
            </a:pPr>
            <a:r>
              <a:t>Peer review mid-class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Session Goals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Sharpen arguable theses</a:t>
            </a:r>
          </a:p>
          <a:p>
            <a:pPr>
              <a:spcAft>
                <a:spcPts val="800"/>
              </a:spcAft>
              <a:defRPr sz="2200">
                <a:solidFill>
                  <a:srgbClr val="F7F7F2"/>
                </a:solidFill>
                <a:latin typeface="Source Sans Pro"/>
              </a:defRPr>
            </a:pPr>
            <a:r>
              <a:t>Connect topics to current news</a:t>
            </a:r>
          </a:p>
          <a:p>
            <a:pPr>
              <a:spcAft>
                <a:spcPts val="800"/>
              </a:spcAft>
              <a:defRPr sz="2200">
                <a:solidFill>
                  <a:srgbClr val="F7F7F2"/>
                </a:solidFill>
                <a:latin typeface="Source Sans Pro"/>
              </a:defRPr>
            </a:pPr>
            <a:r>
              <a:t>Draft + gather feedback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Agenda</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Recap research expectations</a:t>
            </a:r>
          </a:p>
          <a:p>
            <a:pPr>
              <a:spcAft>
                <a:spcPts val="800"/>
              </a:spcAft>
              <a:defRPr sz="2200">
                <a:solidFill>
                  <a:srgbClr val="F7F7F2"/>
                </a:solidFill>
                <a:latin typeface="Source Sans Pro"/>
              </a:defRPr>
            </a:pPr>
            <a:r>
              <a:t>Topic spotlights with news</a:t>
            </a:r>
          </a:p>
          <a:p>
            <a:pPr>
              <a:spcAft>
                <a:spcPts val="800"/>
              </a:spcAft>
              <a:defRPr sz="2200">
                <a:solidFill>
                  <a:srgbClr val="F7F7F2"/>
                </a:solidFill>
                <a:latin typeface="Source Sans Pro"/>
              </a:defRPr>
            </a:pPr>
            <a:r>
              <a:t>Draft intro + body</a:t>
            </a:r>
          </a:p>
          <a:p>
            <a:pPr>
              <a:spcAft>
                <a:spcPts val="800"/>
              </a:spcAft>
              <a:defRPr sz="2200">
                <a:solidFill>
                  <a:srgbClr val="F7F7F2"/>
                </a:solidFill>
                <a:latin typeface="Source Sans Pro"/>
              </a:defRPr>
            </a:pPr>
            <a:r>
              <a:t>Peer review + homework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From Week 12 to Now</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Topic + working claim chosen</a:t>
            </a:r>
          </a:p>
          <a:p>
            <a:pPr>
              <a:spcAft>
                <a:spcPts val="800"/>
              </a:spcAft>
              <a:defRPr sz="2200">
                <a:solidFill>
                  <a:srgbClr val="F7F7F2"/>
                </a:solidFill>
                <a:latin typeface="Source Sans Pro"/>
              </a:defRPr>
            </a:pPr>
            <a:r>
              <a:t>Sources collected</a:t>
            </a:r>
          </a:p>
          <a:p>
            <a:pPr>
              <a:spcAft>
                <a:spcPts val="800"/>
              </a:spcAft>
              <a:defRPr sz="2200">
                <a:solidFill>
                  <a:srgbClr val="F7F7F2"/>
                </a:solidFill>
                <a:latin typeface="Source Sans Pro"/>
              </a:defRPr>
            </a:pPr>
            <a:r>
              <a:t>Ready to draft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What Makes a Strong Thesis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Arguable position</a:t>
            </a:r>
          </a:p>
          <a:p>
            <a:pPr>
              <a:spcAft>
                <a:spcPts val="800"/>
              </a:spcAft>
              <a:defRPr sz="2200">
                <a:solidFill>
                  <a:srgbClr val="F7F7F2"/>
                </a:solidFill>
                <a:latin typeface="Source Sans Pro"/>
              </a:defRPr>
            </a:pPr>
            <a:r>
              <a:t>Specific scope</a:t>
            </a:r>
          </a:p>
          <a:p>
            <a:pPr>
              <a:spcAft>
                <a:spcPts val="800"/>
              </a:spcAft>
              <a:defRPr sz="2200">
                <a:solidFill>
                  <a:srgbClr val="F7F7F2"/>
                </a:solidFill>
                <a:latin typeface="Source Sans Pro"/>
              </a:defRPr>
            </a:pPr>
            <a:r>
              <a:t>Sized for 4–6 pages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Intro Paragraph Moves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Hook or frame</a:t>
            </a:r>
          </a:p>
          <a:p>
            <a:pPr>
              <a:spcAft>
                <a:spcPts val="800"/>
              </a:spcAft>
              <a:defRPr sz="2200">
                <a:solidFill>
                  <a:srgbClr val="F7F7F2"/>
                </a:solidFill>
                <a:latin typeface="Source Sans Pro"/>
              </a:defRPr>
            </a:pPr>
            <a:r>
              <a:t>Why it matters now</a:t>
            </a:r>
          </a:p>
          <a:p>
            <a:pPr>
              <a:spcAft>
                <a:spcPts val="800"/>
              </a:spcAft>
              <a:defRPr sz="2200">
                <a:solidFill>
                  <a:srgbClr val="F7F7F2"/>
                </a:solidFill>
                <a:latin typeface="Source Sans Pro"/>
              </a:defRPr>
            </a:pPr>
            <a:r>
              <a:t>Thesis at end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Body Paragraph Shape</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Topic sentence = claim</a:t>
            </a:r>
          </a:p>
          <a:p>
            <a:pPr>
              <a:spcAft>
                <a:spcPts val="800"/>
              </a:spcAft>
              <a:defRPr sz="2200">
                <a:solidFill>
                  <a:srgbClr val="F7F7F2"/>
                </a:solidFill>
                <a:latin typeface="Source Sans Pro"/>
              </a:defRPr>
            </a:pPr>
            <a:r>
              <a:t>Evidence with MLA citation</a:t>
            </a:r>
          </a:p>
          <a:p>
            <a:pPr>
              <a:spcAft>
                <a:spcPts val="800"/>
              </a:spcAft>
              <a:defRPr sz="2200">
                <a:solidFill>
                  <a:srgbClr val="F7F7F2"/>
                </a:solidFill>
                <a:latin typeface="Source Sans Pro"/>
              </a:defRPr>
            </a:pPr>
            <a:r>
              <a:t>Analysis + link</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Using Sources Effectively</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One quote or paraphrase</a:t>
            </a:r>
          </a:p>
          <a:p>
            <a:pPr>
              <a:spcAft>
                <a:spcPts val="800"/>
              </a:spcAft>
              <a:defRPr sz="2200">
                <a:solidFill>
                  <a:srgbClr val="F7F7F2"/>
                </a:solidFill>
                <a:latin typeface="Source Sans Pro"/>
              </a:defRPr>
            </a:pPr>
            <a:r>
              <a:t>Signal phrases</a:t>
            </a:r>
          </a:p>
          <a:p>
            <a:pPr>
              <a:spcAft>
                <a:spcPts val="800"/>
              </a:spcAft>
              <a:defRPr sz="2200">
                <a:solidFill>
                  <a:srgbClr val="F7F7F2"/>
                </a:solidFill>
                <a:latin typeface="Source Sans Pro"/>
              </a:defRPr>
            </a:pPr>
            <a:r>
              <a:t>Explain significance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Topic 1 | Generative AI &amp; Academic Integrity</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Campus AI policies</a:t>
            </a:r>
          </a:p>
          <a:p>
            <a:pPr>
              <a:spcAft>
                <a:spcPts val="800"/>
              </a:spcAft>
              <a:defRPr sz="2200">
                <a:solidFill>
                  <a:srgbClr val="F7F7F2"/>
                </a:solidFill>
                <a:latin typeface="Source Sans Pro"/>
              </a:defRPr>
            </a:pPr>
            <a:r>
              <a:t>Detector fairness</a:t>
            </a:r>
          </a:p>
          <a:p>
            <a:pPr>
              <a:spcAft>
                <a:spcPts val="800"/>
              </a:spcAft>
              <a:defRPr sz="2200">
                <a:solidFill>
                  <a:srgbClr val="F7F7F2"/>
                </a:solidFill>
                <a:latin typeface="Source Sans Pro"/>
              </a:defRPr>
            </a:pPr>
            <a:r>
              <a:t>Crediting AI use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AI Integrity | Recent News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Turnitin AI detector concerns</a:t>
            </a:r>
          </a:p>
          <a:p>
            <a:pPr>
              <a:spcAft>
                <a:spcPts val="800"/>
              </a:spcAft>
              <a:defRPr sz="2200">
                <a:solidFill>
                  <a:srgbClr val="F7F7F2"/>
                </a:solidFill>
                <a:latin typeface="Source Sans Pro"/>
              </a:defRPr>
            </a:pPr>
            <a:r>
              <a:t>NYT v. OpenAI/Microsoft</a:t>
            </a:r>
          </a:p>
          <a:p>
            <a:pPr>
              <a:spcAft>
                <a:spcPts val="800"/>
              </a:spcAft>
              <a:defRPr sz="2200">
                <a:solidFill>
                  <a:srgbClr val="F7F7F2"/>
                </a:solidFill>
                <a:latin typeface="Source Sans Pro"/>
              </a:defRPr>
            </a:pPr>
            <a:r>
              <a:t>Campus GenAI policies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AI Integrity | Angles &amp; Sources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Policy analysis</a:t>
            </a:r>
          </a:p>
          <a:p>
            <a:pPr>
              <a:spcAft>
                <a:spcPts val="800"/>
              </a:spcAft>
              <a:defRPr sz="2200">
                <a:solidFill>
                  <a:srgbClr val="F7F7F2"/>
                </a:solidFill>
                <a:latin typeface="Source Sans Pro"/>
              </a:defRPr>
            </a:pPr>
            <a:r>
              <a:t>Equity + false positives</a:t>
            </a:r>
          </a:p>
          <a:p>
            <a:pPr>
              <a:spcAft>
                <a:spcPts val="800"/>
              </a:spcAft>
              <a:defRPr sz="2200">
                <a:solidFill>
                  <a:srgbClr val="F7F7F2"/>
                </a:solidFill>
                <a:latin typeface="Source Sans Pro"/>
              </a:defRPr>
            </a:pPr>
            <a:r>
              <a:t>Citation ethics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Topic 2 | Data Privacy &amp; Location Surveillance</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Apps selling location data</a:t>
            </a:r>
          </a:p>
          <a:p>
            <a:pPr>
              <a:spcAft>
                <a:spcPts val="800"/>
              </a:spcAft>
              <a:defRPr sz="2200">
                <a:solidFill>
                  <a:srgbClr val="F7F7F2"/>
                </a:solidFill>
                <a:latin typeface="Source Sans Pro"/>
              </a:defRPr>
            </a:pPr>
            <a:r>
              <a:t>Police purchases</a:t>
            </a:r>
          </a:p>
          <a:p>
            <a:pPr>
              <a:spcAft>
                <a:spcPts val="800"/>
              </a:spcAft>
              <a:defRPr sz="2200">
                <a:solidFill>
                  <a:srgbClr val="F7F7F2"/>
                </a:solidFill>
                <a:latin typeface="Source Sans Pro"/>
              </a:defRPr>
            </a:pPr>
            <a:r>
              <a:t>Health data risks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Data Privacy | Recent News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FTC bans X-Mode/Outlogic sales</a:t>
            </a:r>
          </a:p>
          <a:p>
            <a:pPr>
              <a:spcAft>
                <a:spcPts val="800"/>
              </a:spcAft>
              <a:defRPr sz="2200">
                <a:solidFill>
                  <a:srgbClr val="F7F7F2"/>
                </a:solidFill>
                <a:latin typeface="Source Sans Pro"/>
              </a:defRPr>
            </a:pPr>
            <a:r>
              <a:t>FTC v. Kochava ongoing</a:t>
            </a:r>
          </a:p>
          <a:p>
            <a:pPr>
              <a:spcAft>
                <a:spcPts val="800"/>
              </a:spcAft>
              <a:defRPr sz="2200">
                <a:solidFill>
                  <a:srgbClr val="F7F7F2"/>
                </a:solidFill>
                <a:latin typeface="Source Sans Pro"/>
              </a:defRPr>
            </a:pPr>
            <a:r>
              <a:t>Reports on police buying app data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Data Privacy | Angles &amp; Sources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Consent vs. warrant</a:t>
            </a:r>
          </a:p>
          <a:p>
            <a:pPr>
              <a:spcAft>
                <a:spcPts val="800"/>
              </a:spcAft>
              <a:defRPr sz="2200">
                <a:solidFill>
                  <a:srgbClr val="F7F7F2"/>
                </a:solidFill>
                <a:latin typeface="Source Sans Pro"/>
              </a:defRPr>
            </a:pPr>
            <a:r>
              <a:t>How SDKs collect</a:t>
            </a:r>
          </a:p>
          <a:p>
            <a:pPr>
              <a:spcAft>
                <a:spcPts val="800"/>
              </a:spcAft>
              <a:defRPr sz="2200">
                <a:solidFill>
                  <a:srgbClr val="F7F7F2"/>
                </a:solidFill>
                <a:latin typeface="Source Sans Pro"/>
              </a:defRPr>
            </a:pPr>
            <a:r>
              <a:t>Community impact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Topic 3 | Algorithmic Bias in Hiring &amp; Policing</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Automated screening</a:t>
            </a:r>
          </a:p>
          <a:p>
            <a:pPr>
              <a:spcAft>
                <a:spcPts val="800"/>
              </a:spcAft>
              <a:defRPr sz="2200">
                <a:solidFill>
                  <a:srgbClr val="F7F7F2"/>
                </a:solidFill>
                <a:latin typeface="Source Sans Pro"/>
              </a:defRPr>
            </a:pPr>
            <a:r>
              <a:t>Risk scores</a:t>
            </a:r>
          </a:p>
          <a:p>
            <a:pPr>
              <a:spcAft>
                <a:spcPts val="800"/>
              </a:spcAft>
              <a:defRPr sz="2200">
                <a:solidFill>
                  <a:srgbClr val="F7F7F2"/>
                </a:solidFill>
                <a:latin typeface="Source Sans Pro"/>
              </a:defRPr>
            </a:pPr>
            <a:r>
              <a:t>Audit laws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Algorithmic Bias | Recent News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NYC Local Law 144 audits</a:t>
            </a:r>
          </a:p>
          <a:p>
            <a:pPr>
              <a:spcAft>
                <a:spcPts val="800"/>
              </a:spcAft>
              <a:defRPr sz="2200">
                <a:solidFill>
                  <a:srgbClr val="F7F7F2"/>
                </a:solidFill>
                <a:latin typeface="Source Sans Pro"/>
              </a:defRPr>
            </a:pPr>
            <a:r>
              <a:t>EEOC AI hiring guidance</a:t>
            </a:r>
          </a:p>
          <a:p>
            <a:pPr>
              <a:spcAft>
                <a:spcPts val="800"/>
              </a:spcAft>
              <a:defRPr sz="2200">
                <a:solidFill>
                  <a:srgbClr val="F7F7F2"/>
                </a:solidFill>
                <a:latin typeface="Source Sans Pro"/>
              </a:defRPr>
            </a:pPr>
            <a:r>
              <a:t>Chicago ending ShotSpotter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Algorithmic Bias | Angles &amp; Sources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Audit standards</a:t>
            </a:r>
          </a:p>
          <a:p>
            <a:pPr>
              <a:spcAft>
                <a:spcPts val="800"/>
              </a:spcAft>
              <a:defRPr sz="2200">
                <a:solidFill>
                  <a:srgbClr val="F7F7F2"/>
                </a:solidFill>
                <a:latin typeface="Source Sans Pro"/>
              </a:defRPr>
            </a:pPr>
            <a:r>
              <a:t>Case studies</a:t>
            </a:r>
          </a:p>
          <a:p>
            <a:pPr>
              <a:spcAft>
                <a:spcPts val="800"/>
              </a:spcAft>
              <a:defRPr sz="2200">
                <a:solidFill>
                  <a:srgbClr val="F7F7F2"/>
                </a:solidFill>
                <a:latin typeface="Source Sans Pro"/>
              </a:defRPr>
            </a:pPr>
            <a:r>
              <a:t>Equity impacts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Topic 4 | Cybersecurity &amp; Critical Infrastructure</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Hospitals and pipelines</a:t>
            </a:r>
          </a:p>
          <a:p>
            <a:pPr>
              <a:spcAft>
                <a:spcPts val="800"/>
              </a:spcAft>
              <a:defRPr sz="2200">
                <a:solidFill>
                  <a:srgbClr val="F7F7F2"/>
                </a:solidFill>
                <a:latin typeface="Source Sans Pro"/>
              </a:defRPr>
            </a:pPr>
            <a:r>
              <a:t>Ransomware disruption</a:t>
            </a:r>
          </a:p>
          <a:p>
            <a:pPr>
              <a:spcAft>
                <a:spcPts val="800"/>
              </a:spcAft>
              <a:defRPr sz="2200">
                <a:solidFill>
                  <a:srgbClr val="F7F7F2"/>
                </a:solidFill>
                <a:latin typeface="Source Sans Pro"/>
              </a:defRPr>
            </a:pPr>
            <a:r>
              <a:t>Preparedness vs. regulation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Cybersecurity | Recent News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Change Healthcare outage</a:t>
            </a:r>
          </a:p>
          <a:p>
            <a:pPr>
              <a:spcAft>
                <a:spcPts val="800"/>
              </a:spcAft>
              <a:defRPr sz="2200">
                <a:solidFill>
                  <a:srgbClr val="F7F7F2"/>
                </a:solidFill>
                <a:latin typeface="Source Sans Pro"/>
              </a:defRPr>
            </a:pPr>
            <a:r>
              <a:t>MGM Resorts attack</a:t>
            </a:r>
          </a:p>
          <a:p>
            <a:pPr>
              <a:spcAft>
                <a:spcPts val="800"/>
              </a:spcAft>
              <a:defRPr sz="2200">
                <a:solidFill>
                  <a:srgbClr val="F7F7F2"/>
                </a:solidFill>
                <a:latin typeface="Source Sans Pro"/>
              </a:defRPr>
            </a:pPr>
            <a:r>
              <a:t>Colonial Pipeline aftermath</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Cybersecurity | Angles &amp; Sources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Cost vs. downtime</a:t>
            </a:r>
          </a:p>
          <a:p>
            <a:pPr>
              <a:spcAft>
                <a:spcPts val="800"/>
              </a:spcAft>
              <a:defRPr sz="2200">
                <a:solidFill>
                  <a:srgbClr val="F7F7F2"/>
                </a:solidFill>
                <a:latin typeface="Source Sans Pro"/>
              </a:defRPr>
            </a:pPr>
            <a:r>
              <a:t>Regulator alerts</a:t>
            </a:r>
          </a:p>
          <a:p>
            <a:pPr>
              <a:spcAft>
                <a:spcPts val="800"/>
              </a:spcAft>
              <a:defRPr sz="2200">
                <a:solidFill>
                  <a:srgbClr val="F7F7F2"/>
                </a:solidFill>
                <a:latin typeface="Source Sans Pro"/>
              </a:defRPr>
            </a:pPr>
            <a:r>
              <a:t>Human factor</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Drafting Plan</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Clarify thesis</a:t>
            </a:r>
          </a:p>
          <a:p>
            <a:pPr>
              <a:spcAft>
                <a:spcPts val="800"/>
              </a:spcAft>
              <a:defRPr sz="2200">
                <a:solidFill>
                  <a:srgbClr val="F7F7F2"/>
                </a:solidFill>
                <a:latin typeface="Source Sans Pro"/>
              </a:defRPr>
            </a:pPr>
            <a:r>
              <a:t>Write intro with hook</a:t>
            </a:r>
          </a:p>
          <a:p>
            <a:pPr>
              <a:spcAft>
                <a:spcPts val="800"/>
              </a:spcAft>
              <a:defRPr sz="2200">
                <a:solidFill>
                  <a:srgbClr val="F7F7F2"/>
                </a:solidFill>
                <a:latin typeface="Source Sans Pro"/>
              </a:defRPr>
            </a:pPr>
            <a:r>
              <a:t>Build one body paragraph</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Peer Review</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Swap intros</a:t>
            </a:r>
          </a:p>
          <a:p>
            <a:pPr>
              <a:spcAft>
                <a:spcPts val="800"/>
              </a:spcAft>
              <a:defRPr sz="2200">
                <a:solidFill>
                  <a:srgbClr val="F7F7F2"/>
                </a:solidFill>
                <a:latin typeface="Source Sans Pro"/>
              </a:defRPr>
            </a:pPr>
            <a:r>
              <a:t>Check stakes + clarity</a:t>
            </a:r>
          </a:p>
          <a:p>
            <a:pPr>
              <a:spcAft>
                <a:spcPts val="800"/>
              </a:spcAft>
              <a:defRPr sz="2200">
                <a:solidFill>
                  <a:srgbClr val="F7F7F2"/>
                </a:solidFill>
                <a:latin typeface="Source Sans Pro"/>
              </a:defRPr>
            </a:pPr>
            <a:r>
              <a:t>Mark vague spots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B2B"/>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Citation Reminders</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Signal phrase + author</a:t>
            </a:r>
          </a:p>
          <a:p>
            <a:pPr>
              <a:spcAft>
                <a:spcPts val="800"/>
              </a:spcAft>
              <a:defRPr sz="2200">
                <a:solidFill>
                  <a:srgbClr val="F7F7F2"/>
                </a:solidFill>
                <a:latin typeface="Source Sans Pro"/>
              </a:defRPr>
            </a:pPr>
            <a:r>
              <a:t>No dropped quotes</a:t>
            </a:r>
          </a:p>
          <a:p>
            <a:pPr>
              <a:spcAft>
                <a:spcPts val="800"/>
              </a:spcAft>
              <a:defRPr sz="2200">
                <a:solidFill>
                  <a:srgbClr val="F7F7F2"/>
                </a:solidFill>
                <a:latin typeface="Source Sans Pro"/>
              </a:defRPr>
            </a:pPr>
            <a:r>
              <a:t>Match Works Cited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123447"/>
        </a:solidFill>
        <a:effectLst/>
      </p:bgPr>
    </p:bg>
    <p:spTree>
      <p:nvGrpSpPr>
        <p:cNvPr id="1" name=""/>
        <p:cNvGrpSpPr/>
        <p:nvPr/>
      </p:nvGrpSpPr>
      <p:grpSpPr/>
      <p:sp>
        <p:nvSpPr>
          <p:cNvPr id="2" name="Rectangle 1"/>
          <p:cNvSpPr/>
          <p:nvPr/>
        </p:nvSpPr>
        <p:spPr>
          <a:xfrm>
            <a:off x="0" y="0"/>
            <a:ext cx="274320" cy="6858000"/>
          </a:xfrm>
          <a:prstGeom prst="rect">
            <a:avLst/>
          </a:prstGeom>
          <a:solidFill>
            <a:srgbClr val="F4A05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457200"/>
            <a:ext cx="8229600" cy="1188720"/>
          </a:xfrm>
          <a:prstGeom prst="rect">
            <a:avLst/>
          </a:prstGeom>
          <a:noFill/>
        </p:spPr>
        <p:txBody>
          <a:bodyPr wrap="square">
            <a:spAutoFit/>
          </a:bodyPr>
          <a:lstStyle/>
          <a:p>
            <a:pPr>
              <a:defRPr sz="3400" b="1">
                <a:solidFill>
                  <a:srgbClr val="F7F7F2"/>
                </a:solidFill>
                <a:latin typeface="Montserrat"/>
              </a:defRPr>
            </a:pPr>
            <a:r>
              <a:t>Homework</a:t>
            </a:r>
          </a:p>
        </p:txBody>
      </p:sp>
      <p:sp>
        <p:nvSpPr>
          <p:cNvPr id="4" name="TextBox 3"/>
          <p:cNvSpPr txBox="1"/>
          <p:nvPr/>
        </p:nvSpPr>
        <p:spPr>
          <a:xfrm>
            <a:off x="731520" y="1828800"/>
            <a:ext cx="8046720" cy="4114800"/>
          </a:xfrm>
          <a:prstGeom prst="rect">
            <a:avLst/>
          </a:prstGeom>
          <a:noFill/>
        </p:spPr>
        <p:txBody>
          <a:bodyPr wrap="square">
            <a:spAutoFit/>
          </a:bodyPr>
          <a:lstStyle/>
          <a:p>
            <a:pPr>
              <a:spcAft>
                <a:spcPts val="800"/>
              </a:spcAft>
              <a:defRPr sz="2200">
                <a:solidFill>
                  <a:srgbClr val="F7F7F2"/>
                </a:solidFill>
                <a:latin typeface="Source Sans Pro"/>
              </a:defRPr>
            </a:pPr>
            <a:r>
              <a:t>Revise intro + first body</a:t>
            </a:r>
          </a:p>
          <a:p>
            <a:pPr>
              <a:spcAft>
                <a:spcPts val="800"/>
              </a:spcAft>
              <a:defRPr sz="2200">
                <a:solidFill>
                  <a:srgbClr val="F7F7F2"/>
                </a:solidFill>
                <a:latin typeface="Source Sans Pro"/>
              </a:defRPr>
            </a:pPr>
            <a:r>
              <a:t>Draft another body paragraph</a:t>
            </a:r>
          </a:p>
          <a:p>
            <a:pPr>
              <a:spcAft>
                <a:spcPts val="800"/>
              </a:spcAft>
              <a:defRPr sz="2200">
                <a:solidFill>
                  <a:srgbClr val="F7F7F2"/>
                </a:solidFill>
                <a:latin typeface="Source Sans Pro"/>
              </a:defRPr>
            </a:pPr>
            <a:r>
              <a:t>Finish initial full draft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