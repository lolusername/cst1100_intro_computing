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Today we unpack logic gates—the small decision-makers inside every computer. We will start with binary signals, cover the core gates and their truth tables, combine them into adders, and connect the same logic to real applications. Please jump in with questions; the aim is confidence, not memorization.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Roadmap: quick binary refresher; core gates and truth tables; combine gates into adders; then real-world examples and your reflection assignment.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Digital electronics stay reliable by using two ranges: low is near zero volts, high is near the supply voltage. Gates read those levels and output a new level. Truth tables list every input combination with the output that follows so we can reason about a gate quickly.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NOT gate is an inverter. A zero in becomes a one out, and a one in becomes a zero out. We use it whenever we need to express 'not expired', 'not muted', or 'not blocked'.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AND gate outputs one only when every input is one. Think of two switches in series—both must be on for current to flow. In software, that is a password AND a code, or a safety system needing multiple sensors aligned.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OR gate outputs one when any input is one. Picture switches in parallel—if either conducts, the lamp lights. We rely on OR for alarms, notifications, or any place where multiple signals can trigger the same response.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NAND flips the AND output; NOR flips the OR output. Each one alone is universal—any gate can be made from copies of one of these. Hardware often prefers NAND for cost and speed. NOR shows up where you only want a high signal when everything else is low, like reset lines.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XOR outputs one only when the inputs differ, so it is great for parity checks and toggles. XNOR outputs one when the inputs match, behaving like an equality check. You see XOR in toggles and parity bits; you see XNOR in comparators and change detection.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Combining gates gives arithmetic. A half adder uses XOR for the sum bit and AND for the carry. A full adder adds a carry-in; if two or more inputs are one, the carry-out is one. Chain full adders to make the arithmetic logic in a CPU.</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Two-factor login is an AND gate. Input A is password correct. Input B is verification code correct. Only when both are true does the output unlock. If either fails, output stays zero. Same pattern as an if-statement requiring two conditions.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Gate logic powers safety systems, alerts, networking, and UI toggles. A factory press needs guards closed AND the emergency stop NOT pressed. Alarms may use OR to trigger, with an AND on temperature to cut false alarms. Firewalls combine AND, OR, and NOT to decide packet flow. A toggle button is an XOR—it flips state each click.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CPU is a sea of gates. Instruction decoders AND opcode bits with masks to route control signals. OR chains raise flags like write-enable or branch. The ALU is built from the adders we saw. Caches use XNOR or XOR to compare addresses quickly.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Software mirrors gate logic with bitwise operators. AND checks whether a specific flag is on. XOR toggles a bit: if it was one, it becomes zero; if zero, it becomes one. OR forces a bit on. Understanding gates makes these operators clearer.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mistakes: mixing up XOR and OR—remember XOR means exactly one. Forgetting a NOT is another frequent error. A single wrong row in a truth table can misidentify a gate. Clear signal names help everyone debug faster.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reflection connects the theory to something you use. Choose one scenario, map its gates, and include a small truth table. Explain one row in plain language and why correctness matters. Keep it to 200 to 300 words and submit before next class.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C1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828800"/>
            <a:ext cx="7498080" cy="2286000"/>
          </a:xfrm>
          <a:prstGeom prst="rect">
            <a:avLst/>
          </a:prstGeom>
          <a:noFill/>
        </p:spPr>
        <p:txBody>
          <a:bodyPr wrap="square">
            <a:spAutoFit/>
          </a:bodyPr>
          <a:lstStyle/>
          <a:p>
            <a:pPr>
              <a:lnSpc>
                <a:spcPct val="105000"/>
              </a:lnSpc>
              <a:defRPr sz="4000" b="1">
                <a:solidFill>
                  <a:srgbClr val="EDF3FC"/>
                </a:solidFill>
              </a:defRPr>
            </a:pPr>
            <a:r>
              <a:t>Logic Gates: From Signals to Systems</a:t>
            </a:r>
          </a:p>
          <a:p>
            <a:pPr>
              <a:spcBef>
                <a:spcPts val="1200"/>
              </a:spcBef>
              <a:defRPr sz="2200">
                <a:solidFill>
                  <a:srgbClr val="B8C9E2"/>
                </a:solidFill>
              </a:defRPr>
            </a:pPr>
            <a:r>
              <a:t>CST1100 – Intro to Computing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C1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457200"/>
          </a:xfrm>
          <a:prstGeom prst="rect">
            <a:avLst/>
          </a:prstGeom>
          <a:solidFill>
            <a:srgbClr val="1292A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0C1626"/>
                </a:solidFill>
              </a:defRPr>
            </a:pPr>
            <a:r>
              <a:t>Outcomes &amp; Agenda</a:t>
            </a:r>
          </a:p>
        </p:txBody>
      </p:sp>
      <p:sp>
        <p:nvSpPr>
          <p:cNvPr id="4" name="TextBox 3"/>
          <p:cNvSpPr txBox="1"/>
          <p:nvPr/>
        </p:nvSpPr>
        <p:spPr>
          <a:xfrm>
            <a:off x="731520" y="914400"/>
            <a:ext cx="7680960" cy="5303520"/>
          </a:xfrm>
          <a:prstGeom prst="rect">
            <a:avLst/>
          </a:prstGeom>
          <a:noFill/>
        </p:spPr>
        <p:txBody>
          <a:bodyPr wrap="square">
            <a:spAutoFit/>
          </a:bodyPr>
          <a:lstStyle/>
          <a:p>
            <a:pPr>
              <a:defRPr sz="3000" b="1">
                <a:solidFill>
                  <a:srgbClr val="EDF3FC"/>
                </a:solidFill>
              </a:defRPr>
            </a:pPr>
            <a:r>
              <a:t>By the end, you will:</a:t>
            </a:r>
          </a:p>
          <a:p>
            <a:pPr lvl="1">
              <a:lnSpc>
                <a:spcPct val="110000"/>
              </a:lnSpc>
              <a:defRPr sz="2000">
                <a:solidFill>
                  <a:srgbClr val="B8C9E2"/>
                </a:solidFill>
              </a:defRPr>
            </a:pPr>
            <a:r>
              <a:t>Build truth tables for NOT, AND, OR, NAND, NOR, XOR, XNOR.</a:t>
            </a:r>
          </a:p>
          <a:p>
            <a:pPr lvl="1">
              <a:lnSpc>
                <a:spcPct val="110000"/>
              </a:lnSpc>
              <a:defRPr sz="2000">
                <a:solidFill>
                  <a:srgbClr val="B8C9E2"/>
                </a:solidFill>
              </a:defRPr>
            </a:pPr>
            <a:r>
              <a:t>Sketch gates and trace a small circuit end-to-end.</a:t>
            </a:r>
          </a:p>
          <a:p>
            <a:pPr lvl="1">
              <a:lnSpc>
                <a:spcPct val="110000"/>
              </a:lnSpc>
              <a:defRPr sz="2000">
                <a:solidFill>
                  <a:srgbClr val="B8C9E2"/>
                </a:solidFill>
              </a:defRPr>
            </a:pPr>
            <a:r>
              <a:t>Connect gate logic to auth, alerts, and basic arithmetic.</a:t>
            </a:r>
          </a:p>
          <a:p>
            <a:pPr lvl="1">
              <a:lnSpc>
                <a:spcPct val="110000"/>
              </a:lnSpc>
              <a:defRPr sz="2000">
                <a:solidFill>
                  <a:srgbClr val="B8C9E2"/>
                </a:solidFill>
              </a:defRPr>
            </a:pPr>
            <a:r>
              <a:t>Debug by comparing expected tables to observed outputs.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C1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457200"/>
          </a:xfrm>
          <a:prstGeom prst="rect">
            <a:avLst/>
          </a:prstGeom>
          <a:solidFill>
            <a:srgbClr val="1292A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0C1626"/>
                </a:solidFill>
              </a:defRPr>
            </a:pPr>
            <a:r>
              <a:t>Binary Signals</a:t>
            </a:r>
          </a:p>
        </p:txBody>
      </p:sp>
      <p:sp>
        <p:nvSpPr>
          <p:cNvPr id="4" name="Rounded Rectangle 3"/>
          <p:cNvSpPr/>
          <p:nvPr/>
        </p:nvSpPr>
        <p:spPr>
          <a:xfrm>
            <a:off x="640080" y="914400"/>
            <a:ext cx="7863840" cy="4480560"/>
          </a:xfrm>
          <a:prstGeom prst="roundRect">
            <a:avLst/>
          </a:prstGeom>
          <a:solidFill>
            <a:srgbClr val="19293F"/>
          </a:solidFill>
          <a:ln w="15240">
            <a:solidFill>
              <a:srgbClr val="1292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188720"/>
            <a:ext cx="7315200" cy="3931920"/>
          </a:xfrm>
          <a:prstGeom prst="rect">
            <a:avLst/>
          </a:prstGeom>
          <a:noFill/>
        </p:spPr>
        <p:txBody>
          <a:bodyPr wrap="square">
            <a:spAutoFit/>
          </a:bodyPr>
          <a:lstStyle/>
          <a:p>
            <a:pPr>
              <a:defRPr sz="2200">
                <a:solidFill>
                  <a:srgbClr val="EDF3FC"/>
                </a:solidFill>
              </a:defRPr>
            </a:pPr>
            <a:r>
              <a:t>Digital circuits use two stable voltage ranges.</a:t>
            </a:r>
          </a:p>
          <a:p>
            <a:pPr>
              <a:defRPr sz="2000">
                <a:solidFill>
                  <a:srgbClr val="B8C9E2"/>
                </a:solidFill>
              </a:defRPr>
            </a:pPr>
            <a:r>
              <a:t>0 (LOW) ≈ 0 volts → treated as false.</a:t>
            </a:r>
          </a:p>
          <a:p>
            <a:pPr>
              <a:defRPr sz="2000">
                <a:solidFill>
                  <a:srgbClr val="B8C9E2"/>
                </a:solidFill>
              </a:defRPr>
            </a:pPr>
            <a:r>
              <a:t>1 (HIGH) ≈ supply voltage → treated as true.</a:t>
            </a:r>
          </a:p>
          <a:p>
            <a:pPr>
              <a:defRPr sz="2000">
                <a:solidFill>
                  <a:srgbClr val="B8C9E2"/>
                </a:solidFill>
              </a:defRPr>
            </a:pPr>
            <a:r>
              <a:t>Gates read inputs and instantly output a new 0/1.</a:t>
            </a:r>
          </a:p>
          <a:p>
            <a:pPr>
              <a:defRPr sz="2000">
                <a:solidFill>
                  <a:srgbClr val="B8C9E2"/>
                </a:solidFill>
              </a:defRPr>
            </a:pPr>
            <a:r>
              <a:t>Truth tables list every input combo with its output.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C1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457200"/>
          </a:xfrm>
          <a:prstGeom prst="rect">
            <a:avLst/>
          </a:prstGeom>
          <a:solidFill>
            <a:srgbClr val="1292A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0C1626"/>
                </a:solidFill>
              </a:defRPr>
            </a:pPr>
            <a:r>
              <a:t>NOT Gate</a:t>
            </a:r>
          </a:p>
        </p:txBody>
      </p:sp>
      <p:graphicFrame>
        <p:nvGraphicFramePr>
          <p:cNvPr id="4" name="Table 3"/>
          <p:cNvGraphicFramePr>
            <a:graphicFrameLocks noGrp="1"/>
          </p:cNvGraphicFramePr>
          <p:nvPr/>
        </p:nvGraphicFramePr>
        <p:xfrm>
          <a:off x="640080" y="914400"/>
          <a:ext cx="2468880" cy="1188720"/>
        </p:xfrm>
        <a:graphic>
          <a:graphicData uri="http://schemas.openxmlformats.org/drawingml/2006/table">
            <a:tbl>
              <a:tblPr firstRow="1" bandRow="1">
                <a:tableStyleId>{5C22544A-7EE6-4342-B048-85BDC9FD1C3A}</a:tableStyleId>
              </a:tblPr>
              <a:tblGrid>
                <a:gridCol w="1234440"/>
                <a:gridCol w="1234440"/>
              </a:tblGrid>
              <a:tr h="396240">
                <a:tc>
                  <a:txBody>
                    <a:bodyPr/>
                    <a:lstStyle/>
                    <a:p>
                      <a:pPr algn="ctr">
                        <a:defRPr sz="1700" b="1">
                          <a:solidFill>
                            <a:srgbClr val="0C1626"/>
                          </a:solidFill>
                        </a:defRPr>
                      </a:pPr>
                      <a:r>
                        <a:t>Input</a:t>
                      </a:r>
                    </a:p>
                  </a:txBody>
                  <a:tcPr>
                    <a:solidFill>
                      <a:srgbClr val="1292A6"/>
                    </a:solidFill>
                  </a:tcPr>
                </a:tc>
                <a:tc>
                  <a:txBody>
                    <a:bodyPr/>
                    <a:lstStyle/>
                    <a:p>
                      <a:pPr algn="ctr">
                        <a:defRPr sz="1700" b="1">
                          <a:solidFill>
                            <a:srgbClr val="0C1626"/>
                          </a:solidFill>
                        </a:defRPr>
                      </a:pPr>
                      <a:r>
                        <a:t>Output</a:t>
                      </a:r>
                    </a:p>
                  </a:txBody>
                  <a:tcPr>
                    <a:solidFill>
                      <a:srgbClr val="1292A6"/>
                    </a:solidFill>
                  </a:tcPr>
                </a:tc>
              </a:tr>
              <a:tr h="396240">
                <a:tc>
                  <a:txBody>
                    <a:bodyPr/>
                    <a:lstStyle/>
                    <a:p>
                      <a:pPr algn="ctr">
                        <a:defRPr sz="1700">
                          <a:solidFill>
                            <a:srgbClr val="EDF3FC"/>
                          </a:solidFill>
                        </a:defRPr>
                      </a:pPr>
                      <a:r>
                        <a:t>0</a:t>
                      </a:r>
                    </a:p>
                  </a:txBody>
                  <a:tcPr>
                    <a:solidFill>
                      <a:srgbClr val="19293F"/>
                    </a:solidFill>
                  </a:tcPr>
                </a:tc>
                <a:tc>
                  <a:txBody>
                    <a:bodyPr/>
                    <a:lstStyle/>
                    <a:p>
                      <a:pPr algn="ctr">
                        <a:defRPr sz="1700">
                          <a:solidFill>
                            <a:srgbClr val="EDF3FC"/>
                          </a:solidFill>
                        </a:defRPr>
                      </a:pPr>
                      <a:r>
                        <a:t>1</a:t>
                      </a:r>
                    </a:p>
                  </a:txBody>
                  <a:tcPr>
                    <a:solidFill>
                      <a:srgbClr val="19293F"/>
                    </a:solidFill>
                  </a:tcPr>
                </a:tc>
              </a:tr>
              <a:tr h="396240">
                <a:tc>
                  <a:txBody>
                    <a:bodyPr/>
                    <a:lstStyle/>
                    <a:p>
                      <a:pPr algn="ctr">
                        <a:defRPr sz="1700">
                          <a:solidFill>
                            <a:srgbClr val="EDF3FC"/>
                          </a:solidFill>
                        </a:defRPr>
                      </a:pPr>
                      <a:r>
                        <a:t>1</a:t>
                      </a:r>
                    </a:p>
                  </a:txBody>
                  <a:tcPr>
                    <a:solidFill>
                      <a:srgbClr val="19293F"/>
                    </a:solidFill>
                  </a:tcPr>
                </a:tc>
                <a:tc>
                  <a:txBody>
                    <a:bodyPr/>
                    <a:lstStyle/>
                    <a:p>
                      <a:pPr algn="ctr">
                        <a:defRPr sz="1700">
                          <a:solidFill>
                            <a:srgbClr val="EDF3FC"/>
                          </a:solidFill>
                        </a:defRPr>
                      </a:pPr>
                      <a:r>
                        <a:t>0</a:t>
                      </a:r>
                    </a:p>
                  </a:txBody>
                  <a:tcPr>
                    <a:solidFill>
                      <a:srgbClr val="19293F"/>
                    </a:solidFill>
                  </a:tcPr>
                </a:tc>
              </a:tr>
            </a:tbl>
          </a:graphicData>
        </a:graphic>
      </p:graphicFrame>
      <p:sp>
        <p:nvSpPr>
          <p:cNvPr id="5" name="Oval 4"/>
          <p:cNvSpPr/>
          <p:nvPr/>
        </p:nvSpPr>
        <p:spPr>
          <a:xfrm>
            <a:off x="4206240" y="914400"/>
            <a:ext cx="594360" cy="594360"/>
          </a:xfrm>
          <a:prstGeom prst="ellipse">
            <a:avLst/>
          </a:prstGeom>
          <a:solidFill>
            <a:srgbClr val="19293F"/>
          </a:solidFill>
          <a:ln>
            <a:solidFill>
              <a:srgbClr val="B8C9E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EDF3FC"/>
                </a:solidFill>
              </a:defRPr>
            </a:pPr>
            <a:r>
              <a:t>Input</a:t>
            </a:r>
          </a:p>
        </p:txBody>
      </p:sp>
      <p:sp>
        <p:nvSpPr>
          <p:cNvPr id="6" name="Oval 5"/>
          <p:cNvSpPr/>
          <p:nvPr/>
        </p:nvSpPr>
        <p:spPr>
          <a:xfrm>
            <a:off x="4206240" y="1737360"/>
            <a:ext cx="594360" cy="594360"/>
          </a:xfrm>
          <a:prstGeom prst="ellipse">
            <a:avLst/>
          </a:prstGeom>
          <a:solidFill>
            <a:srgbClr val="19293F"/>
          </a:solidFill>
          <a:ln>
            <a:solidFill>
              <a:srgbClr val="B8C9E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EDF3FC"/>
                </a:solidFill>
              </a:defRPr>
            </a:pPr>
            <a:r>
              <a:t> </a:t>
            </a:r>
          </a:p>
        </p:txBody>
      </p:sp>
      <p:sp>
        <p:nvSpPr>
          <p:cNvPr id="7" name="Trapezoid 6"/>
          <p:cNvSpPr/>
          <p:nvPr/>
        </p:nvSpPr>
        <p:spPr>
          <a:xfrm>
            <a:off x="5166360" y="1143000"/>
            <a:ext cx="1463040" cy="1097280"/>
          </a:xfrm>
          <a:prstGeom prst="trapezoid">
            <a:avLst/>
          </a:prstGeom>
          <a:solidFill>
            <a:srgbClr val="1292A6"/>
          </a:solidFill>
          <a:ln>
            <a:solidFill>
              <a:srgbClr val="FFB74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0C1626"/>
                </a:solidFill>
              </a:defRPr>
            </a:pPr>
            <a:r>
              <a:t>NOT</a:t>
            </a:r>
          </a:p>
        </p:txBody>
      </p:sp>
      <p:sp>
        <p:nvSpPr>
          <p:cNvPr id="8" name="Oval 7"/>
          <p:cNvSpPr/>
          <p:nvPr/>
        </p:nvSpPr>
        <p:spPr>
          <a:xfrm>
            <a:off x="7086600" y="1463040"/>
            <a:ext cx="594360" cy="594360"/>
          </a:xfrm>
          <a:prstGeom prst="ellipse">
            <a:avLst/>
          </a:prstGeom>
          <a:solidFill>
            <a:srgbClr val="19293F"/>
          </a:solidFill>
          <a:ln>
            <a:solidFill>
              <a:srgbClr val="B8C9E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EDF3FC"/>
                </a:solidFill>
              </a:defRPr>
            </a:pPr>
            <a:r>
              <a:t>Flips</a:t>
            </a:r>
          </a:p>
        </p:txBody>
      </p:sp>
      <p:cxnSp>
        <p:nvCxnSpPr>
          <p:cNvPr id="9" name="Connector 8"/>
          <p:cNvCxnSpPr/>
          <p:nvPr/>
        </p:nvCxnSpPr>
        <p:spPr>
          <a:xfrm>
            <a:off x="4800600" y="1234440"/>
            <a:ext cx="365760" cy="182880"/>
          </a:xfrm>
          <a:prstGeom prst="line">
            <a:avLst/>
          </a:prstGeom>
          <a:ln>
            <a:solidFill>
              <a:srgbClr val="B8C9E2"/>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4800600" y="1874520"/>
            <a:ext cx="365760" cy="182880"/>
          </a:xfrm>
          <a:prstGeom prst="line">
            <a:avLst/>
          </a:prstGeom>
          <a:ln>
            <a:solidFill>
              <a:srgbClr val="B8C9E2"/>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629400" y="1691640"/>
            <a:ext cx="457200" cy="45720"/>
          </a:xfrm>
          <a:prstGeom prst="line">
            <a:avLst/>
          </a:prstGeom>
          <a:ln>
            <a:solidFill>
              <a:srgbClr val="B8C9E2"/>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40080" y="2377440"/>
            <a:ext cx="7863840" cy="2560320"/>
          </a:xfrm>
          <a:prstGeom prst="rect">
            <a:avLst/>
          </a:prstGeom>
          <a:noFill/>
        </p:spPr>
        <p:txBody>
          <a:bodyPr wrap="square">
            <a:spAutoFit/>
          </a:bodyPr>
          <a:lstStyle/>
          <a:p>
            <a:pPr>
              <a:defRPr sz="2600" b="1">
                <a:solidFill>
                  <a:srgbClr val="EDF3FC"/>
                </a:solidFill>
              </a:defRPr>
            </a:pPr>
            <a:r>
              <a:t>Behavior</a:t>
            </a:r>
          </a:p>
          <a:p>
            <a:pPr lvl="1">
              <a:defRPr sz="2000">
                <a:solidFill>
                  <a:srgbClr val="B8C9E2"/>
                </a:solidFill>
              </a:defRPr>
            </a:pPr>
            <a:r>
              <a:t>Outputs the opposite of the input.</a:t>
            </a:r>
          </a:p>
          <a:p>
            <a:pPr lvl="1">
              <a:defRPr sz="2000">
                <a:solidFill>
                  <a:srgbClr val="B8C9E2"/>
                </a:solidFill>
              </a:defRPr>
            </a:pPr>
            <a:r>
              <a:t>Useful for NOT expired, NOT muted, NOT blocked checks.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C1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457200"/>
          </a:xfrm>
          <a:prstGeom prst="rect">
            <a:avLst/>
          </a:prstGeom>
          <a:solidFill>
            <a:srgbClr val="1292A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0C1626"/>
                </a:solidFill>
              </a:defRPr>
            </a:pPr>
            <a:r>
              <a:t>AND Gate</a:t>
            </a:r>
          </a:p>
        </p:txBody>
      </p:sp>
      <p:graphicFrame>
        <p:nvGraphicFramePr>
          <p:cNvPr id="4" name="Table 3"/>
          <p:cNvGraphicFramePr>
            <a:graphicFrameLocks noGrp="1"/>
          </p:cNvGraphicFramePr>
          <p:nvPr/>
        </p:nvGraphicFramePr>
        <p:xfrm>
          <a:off x="640080" y="914400"/>
          <a:ext cx="3108960" cy="1280160"/>
        </p:xfrm>
        <a:graphic>
          <a:graphicData uri="http://schemas.openxmlformats.org/drawingml/2006/table">
            <a:tbl>
              <a:tblPr firstRow="1" bandRow="1">
                <a:tableStyleId>{5C22544A-7EE6-4342-B048-85BDC9FD1C3A}</a:tableStyleId>
              </a:tblPr>
              <a:tblGrid>
                <a:gridCol w="1036320"/>
                <a:gridCol w="1036320"/>
                <a:gridCol w="1036320"/>
              </a:tblGrid>
              <a:tr h="256032">
                <a:tc>
                  <a:txBody>
                    <a:bodyPr/>
                    <a:lstStyle/>
                    <a:p>
                      <a:pPr algn="ctr">
                        <a:defRPr sz="1700" b="1">
                          <a:solidFill>
                            <a:srgbClr val="0C1626"/>
                          </a:solidFill>
                        </a:defRPr>
                      </a:pPr>
                      <a:r>
                        <a:t>A</a:t>
                      </a:r>
                    </a:p>
                  </a:txBody>
                  <a:tcPr>
                    <a:solidFill>
                      <a:srgbClr val="1292A6"/>
                    </a:solidFill>
                  </a:tcPr>
                </a:tc>
                <a:tc>
                  <a:txBody>
                    <a:bodyPr/>
                    <a:lstStyle/>
                    <a:p>
                      <a:pPr algn="ctr">
                        <a:defRPr sz="1700" b="1">
                          <a:solidFill>
                            <a:srgbClr val="0C1626"/>
                          </a:solidFill>
                        </a:defRPr>
                      </a:pPr>
                      <a:r>
                        <a:t>B</a:t>
                      </a:r>
                    </a:p>
                  </a:txBody>
                  <a:tcPr>
                    <a:solidFill>
                      <a:srgbClr val="1292A6"/>
                    </a:solidFill>
                  </a:tcPr>
                </a:tc>
                <a:tc>
                  <a:txBody>
                    <a:bodyPr/>
                    <a:lstStyle/>
                    <a:p>
                      <a:pPr algn="ctr">
                        <a:defRPr sz="1700" b="1">
                          <a:solidFill>
                            <a:srgbClr val="0C1626"/>
                          </a:solidFill>
                        </a:defRPr>
                      </a:pPr>
                      <a:r>
                        <a:t>Out</a:t>
                      </a:r>
                    </a:p>
                  </a:txBody>
                  <a:tcPr>
                    <a:solidFill>
                      <a:srgbClr val="1292A6"/>
                    </a:solidFill>
                  </a:tcPr>
                </a:tc>
              </a:tr>
              <a:tr h="256032">
                <a:tc>
                  <a:txBody>
                    <a:bodyPr/>
                    <a:lstStyle/>
                    <a:p>
                      <a:pPr algn="ctr">
                        <a:defRPr sz="1700">
                          <a:solidFill>
                            <a:srgbClr val="EDF3FC"/>
                          </a:solidFill>
                        </a:defRPr>
                      </a:pPr>
                      <a:r>
                        <a:t>0</a:t>
                      </a:r>
                    </a:p>
                  </a:txBody>
                  <a:tcPr>
                    <a:solidFill>
                      <a:srgbClr val="19293F"/>
                    </a:solidFill>
                  </a:tcPr>
                </a:tc>
                <a:tc>
                  <a:txBody>
                    <a:bodyPr/>
                    <a:lstStyle/>
                    <a:p>
                      <a:pPr algn="ctr">
                        <a:defRPr sz="1700">
                          <a:solidFill>
                            <a:srgbClr val="EDF3FC"/>
                          </a:solidFill>
                        </a:defRPr>
                      </a:pPr>
                      <a:r>
                        <a:t>0</a:t>
                      </a:r>
                    </a:p>
                  </a:txBody>
                  <a:tcPr>
                    <a:solidFill>
                      <a:srgbClr val="19293F"/>
                    </a:solidFill>
                  </a:tcPr>
                </a:tc>
                <a:tc>
                  <a:txBody>
                    <a:bodyPr/>
                    <a:lstStyle/>
                    <a:p>
                      <a:pPr algn="ctr">
                        <a:defRPr sz="1700">
                          <a:solidFill>
                            <a:srgbClr val="EDF3FC"/>
                          </a:solidFill>
                        </a:defRPr>
                      </a:pPr>
                      <a:r>
                        <a:t>0</a:t>
                      </a:r>
                    </a:p>
                  </a:txBody>
                  <a:tcPr>
                    <a:solidFill>
                      <a:srgbClr val="19293F"/>
                    </a:solidFill>
                  </a:tcPr>
                </a:tc>
              </a:tr>
              <a:tr h="256032">
                <a:tc>
                  <a:txBody>
                    <a:bodyPr/>
                    <a:lstStyle/>
                    <a:p>
                      <a:pPr algn="ctr">
                        <a:defRPr sz="1700">
                          <a:solidFill>
                            <a:srgbClr val="EDF3FC"/>
                          </a:solidFill>
                        </a:defRPr>
                      </a:pPr>
                      <a:r>
                        <a:t>0</a:t>
                      </a:r>
                    </a:p>
                  </a:txBody>
                  <a:tcPr>
                    <a:solidFill>
                      <a:srgbClr val="19293F"/>
                    </a:solidFill>
                  </a:tcPr>
                </a:tc>
                <a:tc>
                  <a:txBody>
                    <a:bodyPr/>
                    <a:lstStyle/>
                    <a:p>
                      <a:pPr algn="ctr">
                        <a:defRPr sz="1700">
                          <a:solidFill>
                            <a:srgbClr val="EDF3FC"/>
                          </a:solidFill>
                        </a:defRPr>
                      </a:pPr>
                      <a:r>
                        <a:t>1</a:t>
                      </a:r>
                    </a:p>
                  </a:txBody>
                  <a:tcPr>
                    <a:solidFill>
                      <a:srgbClr val="19293F"/>
                    </a:solidFill>
                  </a:tcPr>
                </a:tc>
                <a:tc>
                  <a:txBody>
                    <a:bodyPr/>
                    <a:lstStyle/>
                    <a:p>
                      <a:pPr algn="ctr">
                        <a:defRPr sz="1700">
                          <a:solidFill>
                            <a:srgbClr val="EDF3FC"/>
                          </a:solidFill>
                        </a:defRPr>
                      </a:pPr>
                      <a:r>
                        <a:t>0</a:t>
                      </a:r>
                    </a:p>
                  </a:txBody>
                  <a:tcPr>
                    <a:solidFill>
                      <a:srgbClr val="19293F"/>
                    </a:solidFill>
                  </a:tcPr>
                </a:tc>
              </a:tr>
              <a:tr h="256032">
                <a:tc>
                  <a:txBody>
                    <a:bodyPr/>
                    <a:lstStyle/>
                    <a:p>
                      <a:pPr algn="ctr">
                        <a:defRPr sz="1700">
                          <a:solidFill>
                            <a:srgbClr val="EDF3FC"/>
                          </a:solidFill>
                        </a:defRPr>
                      </a:pPr>
                      <a:r>
                        <a:t>1</a:t>
                      </a:r>
                    </a:p>
                  </a:txBody>
                  <a:tcPr>
                    <a:solidFill>
                      <a:srgbClr val="19293F"/>
                    </a:solidFill>
                  </a:tcPr>
                </a:tc>
                <a:tc>
                  <a:txBody>
                    <a:bodyPr/>
                    <a:lstStyle/>
                    <a:p>
                      <a:pPr algn="ctr">
                        <a:defRPr sz="1700">
                          <a:solidFill>
                            <a:srgbClr val="EDF3FC"/>
                          </a:solidFill>
                        </a:defRPr>
                      </a:pPr>
                      <a:r>
                        <a:t>0</a:t>
                      </a:r>
                    </a:p>
                  </a:txBody>
                  <a:tcPr>
                    <a:solidFill>
                      <a:srgbClr val="19293F"/>
                    </a:solidFill>
                  </a:tcPr>
                </a:tc>
                <a:tc>
                  <a:txBody>
                    <a:bodyPr/>
                    <a:lstStyle/>
                    <a:p>
                      <a:pPr algn="ctr">
                        <a:defRPr sz="1700">
                          <a:solidFill>
                            <a:srgbClr val="EDF3FC"/>
                          </a:solidFill>
                        </a:defRPr>
                      </a:pPr>
                      <a:r>
                        <a:t>0</a:t>
                      </a:r>
                    </a:p>
                  </a:txBody>
                  <a:tcPr>
                    <a:solidFill>
                      <a:srgbClr val="19293F"/>
                    </a:solidFill>
                  </a:tcPr>
                </a:tc>
              </a:tr>
              <a:tr h="256032">
                <a:tc>
                  <a:txBody>
                    <a:bodyPr/>
                    <a:lstStyle/>
                    <a:p>
                      <a:pPr algn="ctr">
                        <a:defRPr sz="1700">
                          <a:solidFill>
                            <a:srgbClr val="EDF3FC"/>
                          </a:solidFill>
                        </a:defRPr>
                      </a:pPr>
                      <a:r>
                        <a:t>1</a:t>
                      </a:r>
                    </a:p>
                  </a:txBody>
                  <a:tcPr>
                    <a:solidFill>
                      <a:srgbClr val="19293F"/>
                    </a:solidFill>
                  </a:tcPr>
                </a:tc>
                <a:tc>
                  <a:txBody>
                    <a:bodyPr/>
                    <a:lstStyle/>
                    <a:p>
                      <a:pPr algn="ctr">
                        <a:defRPr sz="1700">
                          <a:solidFill>
                            <a:srgbClr val="EDF3FC"/>
                          </a:solidFill>
                        </a:defRPr>
                      </a:pPr>
                      <a:r>
                        <a:t>1</a:t>
                      </a:r>
                    </a:p>
                  </a:txBody>
                  <a:tcPr>
                    <a:solidFill>
                      <a:srgbClr val="19293F"/>
                    </a:solidFill>
                  </a:tcPr>
                </a:tc>
                <a:tc>
                  <a:txBody>
                    <a:bodyPr/>
                    <a:lstStyle/>
                    <a:p>
                      <a:pPr algn="ctr">
                        <a:defRPr sz="1700">
                          <a:solidFill>
                            <a:srgbClr val="EDF3FC"/>
                          </a:solidFill>
                        </a:defRPr>
                      </a:pPr>
                      <a:r>
                        <a:t>1</a:t>
                      </a:r>
                    </a:p>
                  </a:txBody>
                  <a:tcPr>
                    <a:solidFill>
                      <a:srgbClr val="19293F"/>
                    </a:solidFill>
                  </a:tcPr>
                </a:tc>
              </a:tr>
            </a:tbl>
          </a:graphicData>
        </a:graphic>
      </p:graphicFrame>
      <p:sp>
        <p:nvSpPr>
          <p:cNvPr id="5" name="Oval 4"/>
          <p:cNvSpPr/>
          <p:nvPr/>
        </p:nvSpPr>
        <p:spPr>
          <a:xfrm>
            <a:off x="4389120" y="914400"/>
            <a:ext cx="594360" cy="594360"/>
          </a:xfrm>
          <a:prstGeom prst="ellipse">
            <a:avLst/>
          </a:prstGeom>
          <a:solidFill>
            <a:srgbClr val="19293F"/>
          </a:solidFill>
          <a:ln>
            <a:solidFill>
              <a:srgbClr val="B8C9E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EDF3FC"/>
                </a:solidFill>
              </a:defRPr>
            </a:pPr>
            <a:r>
              <a:t>A</a:t>
            </a:r>
          </a:p>
        </p:txBody>
      </p:sp>
      <p:sp>
        <p:nvSpPr>
          <p:cNvPr id="6" name="Oval 5"/>
          <p:cNvSpPr/>
          <p:nvPr/>
        </p:nvSpPr>
        <p:spPr>
          <a:xfrm>
            <a:off x="4389120" y="1737360"/>
            <a:ext cx="594360" cy="594360"/>
          </a:xfrm>
          <a:prstGeom prst="ellipse">
            <a:avLst/>
          </a:prstGeom>
          <a:solidFill>
            <a:srgbClr val="19293F"/>
          </a:solidFill>
          <a:ln>
            <a:solidFill>
              <a:srgbClr val="B8C9E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EDF3FC"/>
                </a:solidFill>
              </a:defRPr>
            </a:pPr>
            <a:r>
              <a:t>B</a:t>
            </a:r>
          </a:p>
        </p:txBody>
      </p:sp>
      <p:sp>
        <p:nvSpPr>
          <p:cNvPr id="7" name="Trapezoid 6"/>
          <p:cNvSpPr/>
          <p:nvPr/>
        </p:nvSpPr>
        <p:spPr>
          <a:xfrm>
            <a:off x="5349240" y="1143000"/>
            <a:ext cx="1463040" cy="1097280"/>
          </a:xfrm>
          <a:prstGeom prst="trapezoid">
            <a:avLst/>
          </a:prstGeom>
          <a:solidFill>
            <a:srgbClr val="1292A6"/>
          </a:solidFill>
          <a:ln>
            <a:solidFill>
              <a:srgbClr val="FFB74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0C1626"/>
                </a:solidFill>
              </a:defRPr>
            </a:pPr>
            <a:r>
              <a:t>AND</a:t>
            </a:r>
          </a:p>
        </p:txBody>
      </p:sp>
      <p:sp>
        <p:nvSpPr>
          <p:cNvPr id="8" name="Oval 7"/>
          <p:cNvSpPr/>
          <p:nvPr/>
        </p:nvSpPr>
        <p:spPr>
          <a:xfrm>
            <a:off x="7269480" y="1463040"/>
            <a:ext cx="594360" cy="594360"/>
          </a:xfrm>
          <a:prstGeom prst="ellipse">
            <a:avLst/>
          </a:prstGeom>
          <a:solidFill>
            <a:srgbClr val="19293F"/>
          </a:solidFill>
          <a:ln>
            <a:solidFill>
              <a:srgbClr val="B8C9E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EDF3FC"/>
                </a:solidFill>
              </a:defRPr>
            </a:pPr>
            <a:r>
              <a:t>Output</a:t>
            </a:r>
          </a:p>
        </p:txBody>
      </p:sp>
      <p:cxnSp>
        <p:nvCxnSpPr>
          <p:cNvPr id="9" name="Connector 8"/>
          <p:cNvCxnSpPr/>
          <p:nvPr/>
        </p:nvCxnSpPr>
        <p:spPr>
          <a:xfrm>
            <a:off x="4983480" y="1234440"/>
            <a:ext cx="365760" cy="182880"/>
          </a:xfrm>
          <a:prstGeom prst="line">
            <a:avLst/>
          </a:prstGeom>
          <a:ln>
            <a:solidFill>
              <a:srgbClr val="B8C9E2"/>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4983480" y="1874520"/>
            <a:ext cx="365760" cy="182880"/>
          </a:xfrm>
          <a:prstGeom prst="line">
            <a:avLst/>
          </a:prstGeom>
          <a:ln>
            <a:solidFill>
              <a:srgbClr val="B8C9E2"/>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812280" y="1691640"/>
            <a:ext cx="457200" cy="45720"/>
          </a:xfrm>
          <a:prstGeom prst="line">
            <a:avLst/>
          </a:prstGeom>
          <a:ln>
            <a:solidFill>
              <a:srgbClr val="B8C9E2"/>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40080" y="2560320"/>
            <a:ext cx="7680960" cy="3657600"/>
          </a:xfrm>
          <a:prstGeom prst="rect">
            <a:avLst/>
          </a:prstGeom>
          <a:noFill/>
        </p:spPr>
        <p:txBody>
          <a:bodyPr wrap="square">
            <a:spAutoFit/>
          </a:bodyPr>
          <a:lstStyle/>
          <a:p>
            <a:pPr>
              <a:defRPr sz="3000" b="1">
                <a:solidFill>
                  <a:srgbClr val="EDF3FC"/>
                </a:solidFill>
              </a:defRPr>
            </a:pPr>
            <a:r>
              <a:t>Common uses</a:t>
            </a:r>
          </a:p>
          <a:p>
            <a:pPr lvl="1">
              <a:lnSpc>
                <a:spcPct val="110000"/>
              </a:lnSpc>
              <a:defRPr sz="2000">
                <a:solidFill>
                  <a:srgbClr val="B8C9E2"/>
                </a:solidFill>
              </a:defRPr>
            </a:pPr>
            <a:r>
              <a:t>Two-factor auth: password AND code.</a:t>
            </a:r>
          </a:p>
          <a:p>
            <a:pPr lvl="1">
              <a:lnSpc>
                <a:spcPct val="110000"/>
              </a:lnSpc>
              <a:defRPr sz="2000">
                <a:solidFill>
                  <a:srgbClr val="B8C9E2"/>
                </a:solidFill>
              </a:defRPr>
            </a:pPr>
            <a:r>
              <a:t>Safety interlock: door closed AND sensor aligned.</a:t>
            </a:r>
          </a:p>
          <a:p>
            <a:pPr lvl="1">
              <a:lnSpc>
                <a:spcPct val="110000"/>
              </a:lnSpc>
              <a:defRPr sz="2000">
                <a:solidFill>
                  <a:srgbClr val="B8C9E2"/>
                </a:solidFill>
              </a:defRPr>
            </a:pPr>
            <a:r>
              <a:t>Rate limit: under quota AND in time window.</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C1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457200"/>
          </a:xfrm>
          <a:prstGeom prst="rect">
            <a:avLst/>
          </a:prstGeom>
          <a:solidFill>
            <a:srgbClr val="1292A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0C1626"/>
                </a:solidFill>
              </a:defRPr>
            </a:pPr>
            <a:r>
              <a:t>OR Gate</a:t>
            </a:r>
          </a:p>
        </p:txBody>
      </p:sp>
      <p:graphicFrame>
        <p:nvGraphicFramePr>
          <p:cNvPr id="4" name="Table 3"/>
          <p:cNvGraphicFramePr>
            <a:graphicFrameLocks noGrp="1"/>
          </p:cNvGraphicFramePr>
          <p:nvPr/>
        </p:nvGraphicFramePr>
        <p:xfrm>
          <a:off x="640080" y="914400"/>
          <a:ext cx="3108960" cy="1280160"/>
        </p:xfrm>
        <a:graphic>
          <a:graphicData uri="http://schemas.openxmlformats.org/drawingml/2006/table">
            <a:tbl>
              <a:tblPr firstRow="1" bandRow="1">
                <a:tableStyleId>{5C22544A-7EE6-4342-B048-85BDC9FD1C3A}</a:tableStyleId>
              </a:tblPr>
              <a:tblGrid>
                <a:gridCol w="1036320"/>
                <a:gridCol w="1036320"/>
                <a:gridCol w="1036320"/>
              </a:tblGrid>
              <a:tr h="256032">
                <a:tc>
                  <a:txBody>
                    <a:bodyPr/>
                    <a:lstStyle/>
                    <a:p>
                      <a:pPr algn="ctr">
                        <a:defRPr sz="1700" b="1">
                          <a:solidFill>
                            <a:srgbClr val="0C1626"/>
                          </a:solidFill>
                        </a:defRPr>
                      </a:pPr>
                      <a:r>
                        <a:t>A</a:t>
                      </a:r>
                    </a:p>
                  </a:txBody>
                  <a:tcPr>
                    <a:solidFill>
                      <a:srgbClr val="1292A6"/>
                    </a:solidFill>
                  </a:tcPr>
                </a:tc>
                <a:tc>
                  <a:txBody>
                    <a:bodyPr/>
                    <a:lstStyle/>
                    <a:p>
                      <a:pPr algn="ctr">
                        <a:defRPr sz="1700" b="1">
                          <a:solidFill>
                            <a:srgbClr val="0C1626"/>
                          </a:solidFill>
                        </a:defRPr>
                      </a:pPr>
                      <a:r>
                        <a:t>B</a:t>
                      </a:r>
                    </a:p>
                  </a:txBody>
                  <a:tcPr>
                    <a:solidFill>
                      <a:srgbClr val="1292A6"/>
                    </a:solidFill>
                  </a:tcPr>
                </a:tc>
                <a:tc>
                  <a:txBody>
                    <a:bodyPr/>
                    <a:lstStyle/>
                    <a:p>
                      <a:pPr algn="ctr">
                        <a:defRPr sz="1700" b="1">
                          <a:solidFill>
                            <a:srgbClr val="0C1626"/>
                          </a:solidFill>
                        </a:defRPr>
                      </a:pPr>
                      <a:r>
                        <a:t>Out</a:t>
                      </a:r>
                    </a:p>
                  </a:txBody>
                  <a:tcPr>
                    <a:solidFill>
                      <a:srgbClr val="1292A6"/>
                    </a:solidFill>
                  </a:tcPr>
                </a:tc>
              </a:tr>
              <a:tr h="256032">
                <a:tc>
                  <a:txBody>
                    <a:bodyPr/>
                    <a:lstStyle/>
                    <a:p>
                      <a:pPr algn="ctr">
                        <a:defRPr sz="1700">
                          <a:solidFill>
                            <a:srgbClr val="EDF3FC"/>
                          </a:solidFill>
                        </a:defRPr>
                      </a:pPr>
                      <a:r>
                        <a:t>0</a:t>
                      </a:r>
                    </a:p>
                  </a:txBody>
                  <a:tcPr>
                    <a:solidFill>
                      <a:srgbClr val="19293F"/>
                    </a:solidFill>
                  </a:tcPr>
                </a:tc>
                <a:tc>
                  <a:txBody>
                    <a:bodyPr/>
                    <a:lstStyle/>
                    <a:p>
                      <a:pPr algn="ctr">
                        <a:defRPr sz="1700">
                          <a:solidFill>
                            <a:srgbClr val="EDF3FC"/>
                          </a:solidFill>
                        </a:defRPr>
                      </a:pPr>
                      <a:r>
                        <a:t>0</a:t>
                      </a:r>
                    </a:p>
                  </a:txBody>
                  <a:tcPr>
                    <a:solidFill>
                      <a:srgbClr val="19293F"/>
                    </a:solidFill>
                  </a:tcPr>
                </a:tc>
                <a:tc>
                  <a:txBody>
                    <a:bodyPr/>
                    <a:lstStyle/>
                    <a:p>
                      <a:pPr algn="ctr">
                        <a:defRPr sz="1700">
                          <a:solidFill>
                            <a:srgbClr val="EDF3FC"/>
                          </a:solidFill>
                        </a:defRPr>
                      </a:pPr>
                      <a:r>
                        <a:t>0</a:t>
                      </a:r>
                    </a:p>
                  </a:txBody>
                  <a:tcPr>
                    <a:solidFill>
                      <a:srgbClr val="19293F"/>
                    </a:solidFill>
                  </a:tcPr>
                </a:tc>
              </a:tr>
              <a:tr h="256032">
                <a:tc>
                  <a:txBody>
                    <a:bodyPr/>
                    <a:lstStyle/>
                    <a:p>
                      <a:pPr algn="ctr">
                        <a:defRPr sz="1700">
                          <a:solidFill>
                            <a:srgbClr val="EDF3FC"/>
                          </a:solidFill>
                        </a:defRPr>
                      </a:pPr>
                      <a:r>
                        <a:t>0</a:t>
                      </a:r>
                    </a:p>
                  </a:txBody>
                  <a:tcPr>
                    <a:solidFill>
                      <a:srgbClr val="19293F"/>
                    </a:solidFill>
                  </a:tcPr>
                </a:tc>
                <a:tc>
                  <a:txBody>
                    <a:bodyPr/>
                    <a:lstStyle/>
                    <a:p>
                      <a:pPr algn="ctr">
                        <a:defRPr sz="1700">
                          <a:solidFill>
                            <a:srgbClr val="EDF3FC"/>
                          </a:solidFill>
                        </a:defRPr>
                      </a:pPr>
                      <a:r>
                        <a:t>1</a:t>
                      </a:r>
                    </a:p>
                  </a:txBody>
                  <a:tcPr>
                    <a:solidFill>
                      <a:srgbClr val="19293F"/>
                    </a:solidFill>
                  </a:tcPr>
                </a:tc>
                <a:tc>
                  <a:txBody>
                    <a:bodyPr/>
                    <a:lstStyle/>
                    <a:p>
                      <a:pPr algn="ctr">
                        <a:defRPr sz="1700">
                          <a:solidFill>
                            <a:srgbClr val="EDF3FC"/>
                          </a:solidFill>
                        </a:defRPr>
                      </a:pPr>
                      <a:r>
                        <a:t>1</a:t>
                      </a:r>
                    </a:p>
                  </a:txBody>
                  <a:tcPr>
                    <a:solidFill>
                      <a:srgbClr val="19293F"/>
                    </a:solidFill>
                  </a:tcPr>
                </a:tc>
              </a:tr>
              <a:tr h="256032">
                <a:tc>
                  <a:txBody>
                    <a:bodyPr/>
                    <a:lstStyle/>
                    <a:p>
                      <a:pPr algn="ctr">
                        <a:defRPr sz="1700">
                          <a:solidFill>
                            <a:srgbClr val="EDF3FC"/>
                          </a:solidFill>
                        </a:defRPr>
                      </a:pPr>
                      <a:r>
                        <a:t>1</a:t>
                      </a:r>
                    </a:p>
                  </a:txBody>
                  <a:tcPr>
                    <a:solidFill>
                      <a:srgbClr val="19293F"/>
                    </a:solidFill>
                  </a:tcPr>
                </a:tc>
                <a:tc>
                  <a:txBody>
                    <a:bodyPr/>
                    <a:lstStyle/>
                    <a:p>
                      <a:pPr algn="ctr">
                        <a:defRPr sz="1700">
                          <a:solidFill>
                            <a:srgbClr val="EDF3FC"/>
                          </a:solidFill>
                        </a:defRPr>
                      </a:pPr>
                      <a:r>
                        <a:t>0</a:t>
                      </a:r>
                    </a:p>
                  </a:txBody>
                  <a:tcPr>
                    <a:solidFill>
                      <a:srgbClr val="19293F"/>
                    </a:solidFill>
                  </a:tcPr>
                </a:tc>
                <a:tc>
                  <a:txBody>
                    <a:bodyPr/>
                    <a:lstStyle/>
                    <a:p>
                      <a:pPr algn="ctr">
                        <a:defRPr sz="1700">
                          <a:solidFill>
                            <a:srgbClr val="EDF3FC"/>
                          </a:solidFill>
                        </a:defRPr>
                      </a:pPr>
                      <a:r>
                        <a:t>1</a:t>
                      </a:r>
                    </a:p>
                  </a:txBody>
                  <a:tcPr>
                    <a:solidFill>
                      <a:srgbClr val="19293F"/>
                    </a:solidFill>
                  </a:tcPr>
                </a:tc>
              </a:tr>
              <a:tr h="256032">
                <a:tc>
                  <a:txBody>
                    <a:bodyPr/>
                    <a:lstStyle/>
                    <a:p>
                      <a:pPr algn="ctr">
                        <a:defRPr sz="1700">
                          <a:solidFill>
                            <a:srgbClr val="EDF3FC"/>
                          </a:solidFill>
                        </a:defRPr>
                      </a:pPr>
                      <a:r>
                        <a:t>1</a:t>
                      </a:r>
                    </a:p>
                  </a:txBody>
                  <a:tcPr>
                    <a:solidFill>
                      <a:srgbClr val="19293F"/>
                    </a:solidFill>
                  </a:tcPr>
                </a:tc>
                <a:tc>
                  <a:txBody>
                    <a:bodyPr/>
                    <a:lstStyle/>
                    <a:p>
                      <a:pPr algn="ctr">
                        <a:defRPr sz="1700">
                          <a:solidFill>
                            <a:srgbClr val="EDF3FC"/>
                          </a:solidFill>
                        </a:defRPr>
                      </a:pPr>
                      <a:r>
                        <a:t>1</a:t>
                      </a:r>
                    </a:p>
                  </a:txBody>
                  <a:tcPr>
                    <a:solidFill>
                      <a:srgbClr val="19293F"/>
                    </a:solidFill>
                  </a:tcPr>
                </a:tc>
                <a:tc>
                  <a:txBody>
                    <a:bodyPr/>
                    <a:lstStyle/>
                    <a:p>
                      <a:pPr algn="ctr">
                        <a:defRPr sz="1700">
                          <a:solidFill>
                            <a:srgbClr val="EDF3FC"/>
                          </a:solidFill>
                        </a:defRPr>
                      </a:pPr>
                      <a:r>
                        <a:t>1</a:t>
                      </a:r>
                    </a:p>
                  </a:txBody>
                  <a:tcPr>
                    <a:solidFill>
                      <a:srgbClr val="19293F"/>
                    </a:solidFill>
                  </a:tcPr>
                </a:tc>
              </a:tr>
            </a:tbl>
          </a:graphicData>
        </a:graphic>
      </p:graphicFrame>
      <p:sp>
        <p:nvSpPr>
          <p:cNvPr id="5" name="Oval 4"/>
          <p:cNvSpPr/>
          <p:nvPr/>
        </p:nvSpPr>
        <p:spPr>
          <a:xfrm>
            <a:off x="4389120" y="914400"/>
            <a:ext cx="594360" cy="594360"/>
          </a:xfrm>
          <a:prstGeom prst="ellipse">
            <a:avLst/>
          </a:prstGeom>
          <a:solidFill>
            <a:srgbClr val="19293F"/>
          </a:solidFill>
          <a:ln>
            <a:solidFill>
              <a:srgbClr val="B8C9E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EDF3FC"/>
                </a:solidFill>
              </a:defRPr>
            </a:pPr>
            <a:r>
              <a:t>A</a:t>
            </a:r>
          </a:p>
        </p:txBody>
      </p:sp>
      <p:sp>
        <p:nvSpPr>
          <p:cNvPr id="6" name="Oval 5"/>
          <p:cNvSpPr/>
          <p:nvPr/>
        </p:nvSpPr>
        <p:spPr>
          <a:xfrm>
            <a:off x="4389120" y="1737360"/>
            <a:ext cx="594360" cy="594360"/>
          </a:xfrm>
          <a:prstGeom prst="ellipse">
            <a:avLst/>
          </a:prstGeom>
          <a:solidFill>
            <a:srgbClr val="19293F"/>
          </a:solidFill>
          <a:ln>
            <a:solidFill>
              <a:srgbClr val="B8C9E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EDF3FC"/>
                </a:solidFill>
              </a:defRPr>
            </a:pPr>
            <a:r>
              <a:t>B</a:t>
            </a:r>
          </a:p>
        </p:txBody>
      </p:sp>
      <p:sp>
        <p:nvSpPr>
          <p:cNvPr id="7" name="Trapezoid 6"/>
          <p:cNvSpPr/>
          <p:nvPr/>
        </p:nvSpPr>
        <p:spPr>
          <a:xfrm>
            <a:off x="5349240" y="1143000"/>
            <a:ext cx="1463040" cy="1097280"/>
          </a:xfrm>
          <a:prstGeom prst="trapezoid">
            <a:avLst/>
          </a:prstGeom>
          <a:solidFill>
            <a:srgbClr val="1292A6"/>
          </a:solidFill>
          <a:ln>
            <a:solidFill>
              <a:srgbClr val="FFB74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0C1626"/>
                </a:solidFill>
              </a:defRPr>
            </a:pPr>
            <a:r>
              <a:t>OR</a:t>
            </a:r>
          </a:p>
        </p:txBody>
      </p:sp>
      <p:sp>
        <p:nvSpPr>
          <p:cNvPr id="8" name="Oval 7"/>
          <p:cNvSpPr/>
          <p:nvPr/>
        </p:nvSpPr>
        <p:spPr>
          <a:xfrm>
            <a:off x="7269480" y="1463040"/>
            <a:ext cx="594360" cy="594360"/>
          </a:xfrm>
          <a:prstGeom prst="ellipse">
            <a:avLst/>
          </a:prstGeom>
          <a:solidFill>
            <a:srgbClr val="19293F"/>
          </a:solidFill>
          <a:ln>
            <a:solidFill>
              <a:srgbClr val="B8C9E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EDF3FC"/>
                </a:solidFill>
              </a:defRPr>
            </a:pPr>
            <a:r>
              <a:t>Output</a:t>
            </a:r>
          </a:p>
        </p:txBody>
      </p:sp>
      <p:cxnSp>
        <p:nvCxnSpPr>
          <p:cNvPr id="9" name="Connector 8"/>
          <p:cNvCxnSpPr/>
          <p:nvPr/>
        </p:nvCxnSpPr>
        <p:spPr>
          <a:xfrm>
            <a:off x="4983480" y="1234440"/>
            <a:ext cx="365760" cy="182880"/>
          </a:xfrm>
          <a:prstGeom prst="line">
            <a:avLst/>
          </a:prstGeom>
          <a:ln>
            <a:solidFill>
              <a:srgbClr val="B8C9E2"/>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4983480" y="1874520"/>
            <a:ext cx="365760" cy="182880"/>
          </a:xfrm>
          <a:prstGeom prst="line">
            <a:avLst/>
          </a:prstGeom>
          <a:ln>
            <a:solidFill>
              <a:srgbClr val="B8C9E2"/>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812280" y="1691640"/>
            <a:ext cx="457200" cy="45720"/>
          </a:xfrm>
          <a:prstGeom prst="line">
            <a:avLst/>
          </a:prstGeom>
          <a:ln>
            <a:solidFill>
              <a:srgbClr val="B8C9E2"/>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40080" y="2560320"/>
            <a:ext cx="7680960" cy="3657600"/>
          </a:xfrm>
          <a:prstGeom prst="rect">
            <a:avLst/>
          </a:prstGeom>
          <a:noFill/>
        </p:spPr>
        <p:txBody>
          <a:bodyPr wrap="square">
            <a:spAutoFit/>
          </a:bodyPr>
          <a:lstStyle/>
          <a:p>
            <a:pPr>
              <a:defRPr sz="3000" b="1">
                <a:solidFill>
                  <a:srgbClr val="EDF3FC"/>
                </a:solidFill>
              </a:defRPr>
            </a:pPr>
            <a:r>
              <a:t>Common uses</a:t>
            </a:r>
          </a:p>
          <a:p>
            <a:pPr lvl="1">
              <a:lnSpc>
                <a:spcPct val="110000"/>
              </a:lnSpc>
              <a:defRPr sz="2000">
                <a:solidFill>
                  <a:srgbClr val="B8C9E2"/>
                </a:solidFill>
              </a:defRPr>
            </a:pPr>
            <a:r>
              <a:t>Alert: motion OR window sensor triggers alarm.</a:t>
            </a:r>
          </a:p>
          <a:p>
            <a:pPr lvl="1">
              <a:lnSpc>
                <a:spcPct val="110000"/>
              </a:lnSpc>
              <a:defRPr sz="2000">
                <a:solidFill>
                  <a:srgbClr val="B8C9E2"/>
                </a:solidFill>
              </a:defRPr>
            </a:pPr>
            <a:r>
              <a:t>Routing: email OR SMS OR push sends a notice.</a:t>
            </a:r>
          </a:p>
          <a:p>
            <a:pPr lvl="1">
              <a:lnSpc>
                <a:spcPct val="110000"/>
              </a:lnSpc>
              <a:defRPr sz="2000">
                <a:solidFill>
                  <a:srgbClr val="B8C9E2"/>
                </a:solidFill>
              </a:defRPr>
            </a:pPr>
            <a:r>
              <a:t>Search: tag A OR tag B matches item.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C1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457200"/>
          </a:xfrm>
          <a:prstGeom prst="rect">
            <a:avLst/>
          </a:prstGeom>
          <a:solidFill>
            <a:srgbClr val="1292A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0C1626"/>
                </a:solidFill>
              </a:defRPr>
            </a:pPr>
            <a:r>
              <a:t>NAND and NOR</a:t>
            </a:r>
          </a:p>
        </p:txBody>
      </p:sp>
      <p:graphicFrame>
        <p:nvGraphicFramePr>
          <p:cNvPr id="4" name="Table 3"/>
          <p:cNvGraphicFramePr>
            <a:graphicFrameLocks noGrp="1"/>
          </p:cNvGraphicFramePr>
          <p:nvPr/>
        </p:nvGraphicFramePr>
        <p:xfrm>
          <a:off x="640080" y="914400"/>
          <a:ext cx="2834640" cy="1280160"/>
        </p:xfrm>
        <a:graphic>
          <a:graphicData uri="http://schemas.openxmlformats.org/drawingml/2006/table">
            <a:tbl>
              <a:tblPr firstRow="1" bandRow="1">
                <a:tableStyleId>{5C22544A-7EE6-4342-B048-85BDC9FD1C3A}</a:tableStyleId>
              </a:tblPr>
              <a:tblGrid>
                <a:gridCol w="944880"/>
                <a:gridCol w="944880"/>
                <a:gridCol w="944880"/>
              </a:tblGrid>
              <a:tr h="256032">
                <a:tc>
                  <a:txBody>
                    <a:bodyPr/>
                    <a:lstStyle/>
                    <a:p>
                      <a:pPr algn="ctr">
                        <a:defRPr sz="1700" b="1">
                          <a:solidFill>
                            <a:srgbClr val="0C1626"/>
                          </a:solidFill>
                        </a:defRPr>
                      </a:pPr>
                      <a:r>
                        <a:t>A</a:t>
                      </a:r>
                    </a:p>
                  </a:txBody>
                  <a:tcPr>
                    <a:solidFill>
                      <a:srgbClr val="1292A6"/>
                    </a:solidFill>
                  </a:tcPr>
                </a:tc>
                <a:tc>
                  <a:txBody>
                    <a:bodyPr/>
                    <a:lstStyle/>
                    <a:p>
                      <a:pPr algn="ctr">
                        <a:defRPr sz="1700" b="1">
                          <a:solidFill>
                            <a:srgbClr val="0C1626"/>
                          </a:solidFill>
                        </a:defRPr>
                      </a:pPr>
                      <a:r>
                        <a:t>B</a:t>
                      </a:r>
                    </a:p>
                  </a:txBody>
                  <a:tcPr>
                    <a:solidFill>
                      <a:srgbClr val="1292A6"/>
                    </a:solidFill>
                  </a:tcPr>
                </a:tc>
                <a:tc>
                  <a:txBody>
                    <a:bodyPr/>
                    <a:lstStyle/>
                    <a:p>
                      <a:pPr algn="ctr">
                        <a:defRPr sz="1700" b="1">
                          <a:solidFill>
                            <a:srgbClr val="0C1626"/>
                          </a:solidFill>
                        </a:defRPr>
                      </a:pPr>
                      <a:r>
                        <a:t>NAND</a:t>
                      </a:r>
                    </a:p>
                  </a:txBody>
                  <a:tcPr>
                    <a:solidFill>
                      <a:srgbClr val="1292A6"/>
                    </a:solidFill>
                  </a:tcPr>
                </a:tc>
              </a:tr>
              <a:tr h="256032">
                <a:tc>
                  <a:txBody>
                    <a:bodyPr/>
                    <a:lstStyle/>
                    <a:p>
                      <a:pPr algn="ctr">
                        <a:defRPr sz="1700">
                          <a:solidFill>
                            <a:srgbClr val="EDF3FC"/>
                          </a:solidFill>
                        </a:defRPr>
                      </a:pPr>
                      <a:r>
                        <a:t>0</a:t>
                      </a:r>
                    </a:p>
                  </a:txBody>
                  <a:tcPr>
                    <a:solidFill>
                      <a:srgbClr val="19293F"/>
                    </a:solidFill>
                  </a:tcPr>
                </a:tc>
                <a:tc>
                  <a:txBody>
                    <a:bodyPr/>
                    <a:lstStyle/>
                    <a:p>
                      <a:pPr algn="ctr">
                        <a:defRPr sz="1700">
                          <a:solidFill>
                            <a:srgbClr val="EDF3FC"/>
                          </a:solidFill>
                        </a:defRPr>
                      </a:pPr>
                      <a:r>
                        <a:t>0</a:t>
                      </a:r>
                    </a:p>
                  </a:txBody>
                  <a:tcPr>
                    <a:solidFill>
                      <a:srgbClr val="19293F"/>
                    </a:solidFill>
                  </a:tcPr>
                </a:tc>
                <a:tc>
                  <a:txBody>
                    <a:bodyPr/>
                    <a:lstStyle/>
                    <a:p>
                      <a:pPr algn="ctr">
                        <a:defRPr sz="1700">
                          <a:solidFill>
                            <a:srgbClr val="EDF3FC"/>
                          </a:solidFill>
                        </a:defRPr>
                      </a:pPr>
                      <a:r>
                        <a:t>1</a:t>
                      </a:r>
                    </a:p>
                  </a:txBody>
                  <a:tcPr>
                    <a:solidFill>
                      <a:srgbClr val="19293F"/>
                    </a:solidFill>
                  </a:tcPr>
                </a:tc>
              </a:tr>
              <a:tr h="256032">
                <a:tc>
                  <a:txBody>
                    <a:bodyPr/>
                    <a:lstStyle/>
                    <a:p>
                      <a:pPr algn="ctr">
                        <a:defRPr sz="1700">
                          <a:solidFill>
                            <a:srgbClr val="EDF3FC"/>
                          </a:solidFill>
                        </a:defRPr>
                      </a:pPr>
                      <a:r>
                        <a:t>0</a:t>
                      </a:r>
                    </a:p>
                  </a:txBody>
                  <a:tcPr>
                    <a:solidFill>
                      <a:srgbClr val="19293F"/>
                    </a:solidFill>
                  </a:tcPr>
                </a:tc>
                <a:tc>
                  <a:txBody>
                    <a:bodyPr/>
                    <a:lstStyle/>
                    <a:p>
                      <a:pPr algn="ctr">
                        <a:defRPr sz="1700">
                          <a:solidFill>
                            <a:srgbClr val="EDF3FC"/>
                          </a:solidFill>
                        </a:defRPr>
                      </a:pPr>
                      <a:r>
                        <a:t>1</a:t>
                      </a:r>
                    </a:p>
                  </a:txBody>
                  <a:tcPr>
                    <a:solidFill>
                      <a:srgbClr val="19293F"/>
                    </a:solidFill>
                  </a:tcPr>
                </a:tc>
                <a:tc>
                  <a:txBody>
                    <a:bodyPr/>
                    <a:lstStyle/>
                    <a:p>
                      <a:pPr algn="ctr">
                        <a:defRPr sz="1700">
                          <a:solidFill>
                            <a:srgbClr val="EDF3FC"/>
                          </a:solidFill>
                        </a:defRPr>
                      </a:pPr>
                      <a:r>
                        <a:t>1</a:t>
                      </a:r>
                    </a:p>
                  </a:txBody>
                  <a:tcPr>
                    <a:solidFill>
                      <a:srgbClr val="19293F"/>
                    </a:solidFill>
                  </a:tcPr>
                </a:tc>
              </a:tr>
              <a:tr h="256032">
                <a:tc>
                  <a:txBody>
                    <a:bodyPr/>
                    <a:lstStyle/>
                    <a:p>
                      <a:pPr algn="ctr">
                        <a:defRPr sz="1700">
                          <a:solidFill>
                            <a:srgbClr val="EDF3FC"/>
                          </a:solidFill>
                        </a:defRPr>
                      </a:pPr>
                      <a:r>
                        <a:t>1</a:t>
                      </a:r>
                    </a:p>
                  </a:txBody>
                  <a:tcPr>
                    <a:solidFill>
                      <a:srgbClr val="19293F"/>
                    </a:solidFill>
                  </a:tcPr>
                </a:tc>
                <a:tc>
                  <a:txBody>
                    <a:bodyPr/>
                    <a:lstStyle/>
                    <a:p>
                      <a:pPr algn="ctr">
                        <a:defRPr sz="1700">
                          <a:solidFill>
                            <a:srgbClr val="EDF3FC"/>
                          </a:solidFill>
                        </a:defRPr>
                      </a:pPr>
                      <a:r>
                        <a:t>0</a:t>
                      </a:r>
                    </a:p>
                  </a:txBody>
                  <a:tcPr>
                    <a:solidFill>
                      <a:srgbClr val="19293F"/>
                    </a:solidFill>
                  </a:tcPr>
                </a:tc>
                <a:tc>
                  <a:txBody>
                    <a:bodyPr/>
                    <a:lstStyle/>
                    <a:p>
                      <a:pPr algn="ctr">
                        <a:defRPr sz="1700">
                          <a:solidFill>
                            <a:srgbClr val="EDF3FC"/>
                          </a:solidFill>
                        </a:defRPr>
                      </a:pPr>
                      <a:r>
                        <a:t>1</a:t>
                      </a:r>
                    </a:p>
                  </a:txBody>
                  <a:tcPr>
                    <a:solidFill>
                      <a:srgbClr val="19293F"/>
                    </a:solidFill>
                  </a:tcPr>
                </a:tc>
              </a:tr>
              <a:tr h="256032">
                <a:tc>
                  <a:txBody>
                    <a:bodyPr/>
                    <a:lstStyle/>
                    <a:p>
                      <a:pPr algn="ctr">
                        <a:defRPr sz="1700">
                          <a:solidFill>
                            <a:srgbClr val="EDF3FC"/>
                          </a:solidFill>
                        </a:defRPr>
                      </a:pPr>
                      <a:r>
                        <a:t>1</a:t>
                      </a:r>
                    </a:p>
                  </a:txBody>
                  <a:tcPr>
                    <a:solidFill>
                      <a:srgbClr val="19293F"/>
                    </a:solidFill>
                  </a:tcPr>
                </a:tc>
                <a:tc>
                  <a:txBody>
                    <a:bodyPr/>
                    <a:lstStyle/>
                    <a:p>
                      <a:pPr algn="ctr">
                        <a:defRPr sz="1700">
                          <a:solidFill>
                            <a:srgbClr val="EDF3FC"/>
                          </a:solidFill>
                        </a:defRPr>
                      </a:pPr>
                      <a:r>
                        <a:t>1</a:t>
                      </a:r>
                    </a:p>
                  </a:txBody>
                  <a:tcPr>
                    <a:solidFill>
                      <a:srgbClr val="19293F"/>
                    </a:solidFill>
                  </a:tcPr>
                </a:tc>
                <a:tc>
                  <a:txBody>
                    <a:bodyPr/>
                    <a:lstStyle/>
                    <a:p>
                      <a:pPr algn="ctr">
                        <a:defRPr sz="1700">
                          <a:solidFill>
                            <a:srgbClr val="EDF3FC"/>
                          </a:solidFill>
                        </a:defRPr>
                      </a:pPr>
                      <a:r>
                        <a:t>0</a:t>
                      </a:r>
                    </a:p>
                  </a:txBody>
                  <a:tcPr>
                    <a:solidFill>
                      <a:srgbClr val="19293F"/>
                    </a:solidFill>
                  </a:tcPr>
                </a:tc>
              </a:tr>
            </a:tbl>
          </a:graphicData>
        </a:graphic>
      </p:graphicFrame>
      <p:graphicFrame>
        <p:nvGraphicFramePr>
          <p:cNvPr id="5" name="Table 4"/>
          <p:cNvGraphicFramePr>
            <a:graphicFrameLocks noGrp="1"/>
          </p:cNvGraphicFramePr>
          <p:nvPr/>
        </p:nvGraphicFramePr>
        <p:xfrm>
          <a:off x="3840480" y="914400"/>
          <a:ext cx="2834640" cy="1280160"/>
        </p:xfrm>
        <a:graphic>
          <a:graphicData uri="http://schemas.openxmlformats.org/drawingml/2006/table">
            <a:tbl>
              <a:tblPr firstRow="1" bandRow="1">
                <a:tableStyleId>{5C22544A-7EE6-4342-B048-85BDC9FD1C3A}</a:tableStyleId>
              </a:tblPr>
              <a:tblGrid>
                <a:gridCol w="944880"/>
                <a:gridCol w="944880"/>
                <a:gridCol w="944880"/>
              </a:tblGrid>
              <a:tr h="256032">
                <a:tc>
                  <a:txBody>
                    <a:bodyPr/>
                    <a:lstStyle/>
                    <a:p>
                      <a:pPr algn="ctr">
                        <a:defRPr sz="1700" b="1">
                          <a:solidFill>
                            <a:srgbClr val="0C1626"/>
                          </a:solidFill>
                        </a:defRPr>
                      </a:pPr>
                      <a:r>
                        <a:t>A</a:t>
                      </a:r>
                    </a:p>
                  </a:txBody>
                  <a:tcPr>
                    <a:solidFill>
                      <a:srgbClr val="1292A6"/>
                    </a:solidFill>
                  </a:tcPr>
                </a:tc>
                <a:tc>
                  <a:txBody>
                    <a:bodyPr/>
                    <a:lstStyle/>
                    <a:p>
                      <a:pPr algn="ctr">
                        <a:defRPr sz="1700" b="1">
                          <a:solidFill>
                            <a:srgbClr val="0C1626"/>
                          </a:solidFill>
                        </a:defRPr>
                      </a:pPr>
                      <a:r>
                        <a:t>B</a:t>
                      </a:r>
                    </a:p>
                  </a:txBody>
                  <a:tcPr>
                    <a:solidFill>
                      <a:srgbClr val="1292A6"/>
                    </a:solidFill>
                  </a:tcPr>
                </a:tc>
                <a:tc>
                  <a:txBody>
                    <a:bodyPr/>
                    <a:lstStyle/>
                    <a:p>
                      <a:pPr algn="ctr">
                        <a:defRPr sz="1700" b="1">
                          <a:solidFill>
                            <a:srgbClr val="0C1626"/>
                          </a:solidFill>
                        </a:defRPr>
                      </a:pPr>
                      <a:r>
                        <a:t>NOR</a:t>
                      </a:r>
                    </a:p>
                  </a:txBody>
                  <a:tcPr>
                    <a:solidFill>
                      <a:srgbClr val="1292A6"/>
                    </a:solidFill>
                  </a:tcPr>
                </a:tc>
              </a:tr>
              <a:tr h="256032">
                <a:tc>
                  <a:txBody>
                    <a:bodyPr/>
                    <a:lstStyle/>
                    <a:p>
                      <a:pPr algn="ctr">
                        <a:defRPr sz="1700">
                          <a:solidFill>
                            <a:srgbClr val="EDF3FC"/>
                          </a:solidFill>
                        </a:defRPr>
                      </a:pPr>
                      <a:r>
                        <a:t>0</a:t>
                      </a:r>
                    </a:p>
                  </a:txBody>
                  <a:tcPr>
                    <a:solidFill>
                      <a:srgbClr val="19293F"/>
                    </a:solidFill>
                  </a:tcPr>
                </a:tc>
                <a:tc>
                  <a:txBody>
                    <a:bodyPr/>
                    <a:lstStyle/>
                    <a:p>
                      <a:pPr algn="ctr">
                        <a:defRPr sz="1700">
                          <a:solidFill>
                            <a:srgbClr val="EDF3FC"/>
                          </a:solidFill>
                        </a:defRPr>
                      </a:pPr>
                      <a:r>
                        <a:t>0</a:t>
                      </a:r>
                    </a:p>
                  </a:txBody>
                  <a:tcPr>
                    <a:solidFill>
                      <a:srgbClr val="19293F"/>
                    </a:solidFill>
                  </a:tcPr>
                </a:tc>
                <a:tc>
                  <a:txBody>
                    <a:bodyPr/>
                    <a:lstStyle/>
                    <a:p>
                      <a:pPr algn="ctr">
                        <a:defRPr sz="1700">
                          <a:solidFill>
                            <a:srgbClr val="EDF3FC"/>
                          </a:solidFill>
                        </a:defRPr>
                      </a:pPr>
                      <a:r>
                        <a:t>1</a:t>
                      </a:r>
                    </a:p>
                  </a:txBody>
                  <a:tcPr>
                    <a:solidFill>
                      <a:srgbClr val="19293F"/>
                    </a:solidFill>
                  </a:tcPr>
                </a:tc>
              </a:tr>
              <a:tr h="256032">
                <a:tc>
                  <a:txBody>
                    <a:bodyPr/>
                    <a:lstStyle/>
                    <a:p>
                      <a:pPr algn="ctr">
                        <a:defRPr sz="1700">
                          <a:solidFill>
                            <a:srgbClr val="EDF3FC"/>
                          </a:solidFill>
                        </a:defRPr>
                      </a:pPr>
                      <a:r>
                        <a:t>0</a:t>
                      </a:r>
                    </a:p>
                  </a:txBody>
                  <a:tcPr>
                    <a:solidFill>
                      <a:srgbClr val="19293F"/>
                    </a:solidFill>
                  </a:tcPr>
                </a:tc>
                <a:tc>
                  <a:txBody>
                    <a:bodyPr/>
                    <a:lstStyle/>
                    <a:p>
                      <a:pPr algn="ctr">
                        <a:defRPr sz="1700">
                          <a:solidFill>
                            <a:srgbClr val="EDF3FC"/>
                          </a:solidFill>
                        </a:defRPr>
                      </a:pPr>
                      <a:r>
                        <a:t>1</a:t>
                      </a:r>
                    </a:p>
                  </a:txBody>
                  <a:tcPr>
                    <a:solidFill>
                      <a:srgbClr val="19293F"/>
                    </a:solidFill>
                  </a:tcPr>
                </a:tc>
                <a:tc>
                  <a:txBody>
                    <a:bodyPr/>
                    <a:lstStyle/>
                    <a:p>
                      <a:pPr algn="ctr">
                        <a:defRPr sz="1700">
                          <a:solidFill>
                            <a:srgbClr val="EDF3FC"/>
                          </a:solidFill>
                        </a:defRPr>
                      </a:pPr>
                      <a:r>
                        <a:t>0</a:t>
                      </a:r>
                    </a:p>
                  </a:txBody>
                  <a:tcPr>
                    <a:solidFill>
                      <a:srgbClr val="19293F"/>
                    </a:solidFill>
                  </a:tcPr>
                </a:tc>
              </a:tr>
              <a:tr h="256032">
                <a:tc>
                  <a:txBody>
                    <a:bodyPr/>
                    <a:lstStyle/>
                    <a:p>
                      <a:pPr algn="ctr">
                        <a:defRPr sz="1700">
                          <a:solidFill>
                            <a:srgbClr val="EDF3FC"/>
                          </a:solidFill>
                        </a:defRPr>
                      </a:pPr>
                      <a:r>
                        <a:t>1</a:t>
                      </a:r>
                    </a:p>
                  </a:txBody>
                  <a:tcPr>
                    <a:solidFill>
                      <a:srgbClr val="19293F"/>
                    </a:solidFill>
                  </a:tcPr>
                </a:tc>
                <a:tc>
                  <a:txBody>
                    <a:bodyPr/>
                    <a:lstStyle/>
                    <a:p>
                      <a:pPr algn="ctr">
                        <a:defRPr sz="1700">
                          <a:solidFill>
                            <a:srgbClr val="EDF3FC"/>
                          </a:solidFill>
                        </a:defRPr>
                      </a:pPr>
                      <a:r>
                        <a:t>0</a:t>
                      </a:r>
                    </a:p>
                  </a:txBody>
                  <a:tcPr>
                    <a:solidFill>
                      <a:srgbClr val="19293F"/>
                    </a:solidFill>
                  </a:tcPr>
                </a:tc>
                <a:tc>
                  <a:txBody>
                    <a:bodyPr/>
                    <a:lstStyle/>
                    <a:p>
                      <a:pPr algn="ctr">
                        <a:defRPr sz="1700">
                          <a:solidFill>
                            <a:srgbClr val="EDF3FC"/>
                          </a:solidFill>
                        </a:defRPr>
                      </a:pPr>
                      <a:r>
                        <a:t>0</a:t>
                      </a:r>
                    </a:p>
                  </a:txBody>
                  <a:tcPr>
                    <a:solidFill>
                      <a:srgbClr val="19293F"/>
                    </a:solidFill>
                  </a:tcPr>
                </a:tc>
              </a:tr>
              <a:tr h="256032">
                <a:tc>
                  <a:txBody>
                    <a:bodyPr/>
                    <a:lstStyle/>
                    <a:p>
                      <a:pPr algn="ctr">
                        <a:defRPr sz="1700">
                          <a:solidFill>
                            <a:srgbClr val="EDF3FC"/>
                          </a:solidFill>
                        </a:defRPr>
                      </a:pPr>
                      <a:r>
                        <a:t>1</a:t>
                      </a:r>
                    </a:p>
                  </a:txBody>
                  <a:tcPr>
                    <a:solidFill>
                      <a:srgbClr val="19293F"/>
                    </a:solidFill>
                  </a:tcPr>
                </a:tc>
                <a:tc>
                  <a:txBody>
                    <a:bodyPr/>
                    <a:lstStyle/>
                    <a:p>
                      <a:pPr algn="ctr">
                        <a:defRPr sz="1700">
                          <a:solidFill>
                            <a:srgbClr val="EDF3FC"/>
                          </a:solidFill>
                        </a:defRPr>
                      </a:pPr>
                      <a:r>
                        <a:t>1</a:t>
                      </a:r>
                    </a:p>
                  </a:txBody>
                  <a:tcPr>
                    <a:solidFill>
                      <a:srgbClr val="19293F"/>
                    </a:solidFill>
                  </a:tcPr>
                </a:tc>
                <a:tc>
                  <a:txBody>
                    <a:bodyPr/>
                    <a:lstStyle/>
                    <a:p>
                      <a:pPr algn="ctr">
                        <a:defRPr sz="1700">
                          <a:solidFill>
                            <a:srgbClr val="EDF3FC"/>
                          </a:solidFill>
                        </a:defRPr>
                      </a:pPr>
                      <a:r>
                        <a:t>0</a:t>
                      </a:r>
                    </a:p>
                  </a:txBody>
                  <a:tcPr>
                    <a:solidFill>
                      <a:srgbClr val="19293F"/>
                    </a:solidFill>
                  </a:tcPr>
                </a:tc>
              </a:tr>
            </a:tbl>
          </a:graphicData>
        </a:graphic>
      </p:graphicFrame>
      <p:sp>
        <p:nvSpPr>
          <p:cNvPr id="6" name="TextBox 5"/>
          <p:cNvSpPr txBox="1"/>
          <p:nvPr/>
        </p:nvSpPr>
        <p:spPr>
          <a:xfrm>
            <a:off x="640080" y="2560320"/>
            <a:ext cx="7680960" cy="3657600"/>
          </a:xfrm>
          <a:prstGeom prst="rect">
            <a:avLst/>
          </a:prstGeom>
          <a:noFill/>
        </p:spPr>
        <p:txBody>
          <a:bodyPr wrap="square">
            <a:spAutoFit/>
          </a:bodyPr>
          <a:lstStyle/>
          <a:p>
            <a:pPr>
              <a:defRPr sz="3000" b="1">
                <a:solidFill>
                  <a:srgbClr val="EDF3FC"/>
                </a:solidFill>
              </a:defRPr>
            </a:pPr>
            <a:r>
              <a:t>Why they matter</a:t>
            </a:r>
          </a:p>
          <a:p>
            <a:pPr lvl="1">
              <a:lnSpc>
                <a:spcPct val="110000"/>
              </a:lnSpc>
              <a:defRPr sz="2000">
                <a:solidFill>
                  <a:srgbClr val="B8C9E2"/>
                </a:solidFill>
              </a:defRPr>
            </a:pPr>
            <a:r>
              <a:t>Each is universal: you can build any circuit from just NANDs or just NORs.</a:t>
            </a:r>
          </a:p>
          <a:p>
            <a:pPr lvl="1">
              <a:lnSpc>
                <a:spcPct val="110000"/>
              </a:lnSpc>
              <a:defRPr sz="2000">
                <a:solidFill>
                  <a:srgbClr val="B8C9E2"/>
                </a:solidFill>
              </a:defRPr>
            </a:pPr>
            <a:r>
              <a:t>NAND is cheap and fast in hardware; NOR appears in reset and default-low logic.</a:t>
            </a:r>
          </a:p>
          <a:p>
            <a:pPr lvl="1">
              <a:lnSpc>
                <a:spcPct val="110000"/>
              </a:lnSpc>
              <a:defRPr sz="2000">
                <a:solidFill>
                  <a:srgbClr val="B8C9E2"/>
                </a:solidFill>
              </a:defRPr>
            </a:pPr>
            <a:r>
              <a:t>Both mirror code patterns like !(A &amp;&amp; B) and !(A || B).</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C1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457200"/>
          </a:xfrm>
          <a:prstGeom prst="rect">
            <a:avLst/>
          </a:prstGeom>
          <a:solidFill>
            <a:srgbClr val="1292A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0C1626"/>
                </a:solidFill>
              </a:defRPr>
            </a:pPr>
            <a:r>
              <a:t>XOR and XNOR</a:t>
            </a:r>
          </a:p>
        </p:txBody>
      </p:sp>
      <p:graphicFrame>
        <p:nvGraphicFramePr>
          <p:cNvPr id="4" name="Table 3"/>
          <p:cNvGraphicFramePr>
            <a:graphicFrameLocks noGrp="1"/>
          </p:cNvGraphicFramePr>
          <p:nvPr/>
        </p:nvGraphicFramePr>
        <p:xfrm>
          <a:off x="640080" y="914400"/>
          <a:ext cx="2834640" cy="1280160"/>
        </p:xfrm>
        <a:graphic>
          <a:graphicData uri="http://schemas.openxmlformats.org/drawingml/2006/table">
            <a:tbl>
              <a:tblPr firstRow="1" bandRow="1">
                <a:tableStyleId>{5C22544A-7EE6-4342-B048-85BDC9FD1C3A}</a:tableStyleId>
              </a:tblPr>
              <a:tblGrid>
                <a:gridCol w="944880"/>
                <a:gridCol w="944880"/>
                <a:gridCol w="944880"/>
              </a:tblGrid>
              <a:tr h="256032">
                <a:tc>
                  <a:txBody>
                    <a:bodyPr/>
                    <a:lstStyle/>
                    <a:p>
                      <a:pPr algn="ctr">
                        <a:defRPr sz="1700" b="1">
                          <a:solidFill>
                            <a:srgbClr val="0C1626"/>
                          </a:solidFill>
                        </a:defRPr>
                      </a:pPr>
                      <a:r>
                        <a:t>A</a:t>
                      </a:r>
                    </a:p>
                  </a:txBody>
                  <a:tcPr>
                    <a:solidFill>
                      <a:srgbClr val="1292A6"/>
                    </a:solidFill>
                  </a:tcPr>
                </a:tc>
                <a:tc>
                  <a:txBody>
                    <a:bodyPr/>
                    <a:lstStyle/>
                    <a:p>
                      <a:pPr algn="ctr">
                        <a:defRPr sz="1700" b="1">
                          <a:solidFill>
                            <a:srgbClr val="0C1626"/>
                          </a:solidFill>
                        </a:defRPr>
                      </a:pPr>
                      <a:r>
                        <a:t>B</a:t>
                      </a:r>
                    </a:p>
                  </a:txBody>
                  <a:tcPr>
                    <a:solidFill>
                      <a:srgbClr val="1292A6"/>
                    </a:solidFill>
                  </a:tcPr>
                </a:tc>
                <a:tc>
                  <a:txBody>
                    <a:bodyPr/>
                    <a:lstStyle/>
                    <a:p>
                      <a:pPr algn="ctr">
                        <a:defRPr sz="1700" b="1">
                          <a:solidFill>
                            <a:srgbClr val="0C1626"/>
                          </a:solidFill>
                        </a:defRPr>
                      </a:pPr>
                      <a:r>
                        <a:t>XOR</a:t>
                      </a:r>
                    </a:p>
                  </a:txBody>
                  <a:tcPr>
                    <a:solidFill>
                      <a:srgbClr val="1292A6"/>
                    </a:solidFill>
                  </a:tcPr>
                </a:tc>
              </a:tr>
              <a:tr h="256032">
                <a:tc>
                  <a:txBody>
                    <a:bodyPr/>
                    <a:lstStyle/>
                    <a:p>
                      <a:pPr algn="ctr">
                        <a:defRPr sz="1700">
                          <a:solidFill>
                            <a:srgbClr val="EDF3FC"/>
                          </a:solidFill>
                        </a:defRPr>
                      </a:pPr>
                      <a:r>
                        <a:t>0</a:t>
                      </a:r>
                    </a:p>
                  </a:txBody>
                  <a:tcPr>
                    <a:solidFill>
                      <a:srgbClr val="19293F"/>
                    </a:solidFill>
                  </a:tcPr>
                </a:tc>
                <a:tc>
                  <a:txBody>
                    <a:bodyPr/>
                    <a:lstStyle/>
                    <a:p>
                      <a:pPr algn="ctr">
                        <a:defRPr sz="1700">
                          <a:solidFill>
                            <a:srgbClr val="EDF3FC"/>
                          </a:solidFill>
                        </a:defRPr>
                      </a:pPr>
                      <a:r>
                        <a:t>0</a:t>
                      </a:r>
                    </a:p>
                  </a:txBody>
                  <a:tcPr>
                    <a:solidFill>
                      <a:srgbClr val="19293F"/>
                    </a:solidFill>
                  </a:tcPr>
                </a:tc>
                <a:tc>
                  <a:txBody>
                    <a:bodyPr/>
                    <a:lstStyle/>
                    <a:p>
                      <a:pPr algn="ctr">
                        <a:defRPr sz="1700">
                          <a:solidFill>
                            <a:srgbClr val="EDF3FC"/>
                          </a:solidFill>
                        </a:defRPr>
                      </a:pPr>
                      <a:r>
                        <a:t>0</a:t>
                      </a:r>
                    </a:p>
                  </a:txBody>
                  <a:tcPr>
                    <a:solidFill>
                      <a:srgbClr val="19293F"/>
                    </a:solidFill>
                  </a:tcPr>
                </a:tc>
              </a:tr>
              <a:tr h="256032">
                <a:tc>
                  <a:txBody>
                    <a:bodyPr/>
                    <a:lstStyle/>
                    <a:p>
                      <a:pPr algn="ctr">
                        <a:defRPr sz="1700">
                          <a:solidFill>
                            <a:srgbClr val="EDF3FC"/>
                          </a:solidFill>
                        </a:defRPr>
                      </a:pPr>
                      <a:r>
                        <a:t>0</a:t>
                      </a:r>
                    </a:p>
                  </a:txBody>
                  <a:tcPr>
                    <a:solidFill>
                      <a:srgbClr val="19293F"/>
                    </a:solidFill>
                  </a:tcPr>
                </a:tc>
                <a:tc>
                  <a:txBody>
                    <a:bodyPr/>
                    <a:lstStyle/>
                    <a:p>
                      <a:pPr algn="ctr">
                        <a:defRPr sz="1700">
                          <a:solidFill>
                            <a:srgbClr val="EDF3FC"/>
                          </a:solidFill>
                        </a:defRPr>
                      </a:pPr>
                      <a:r>
                        <a:t>1</a:t>
                      </a:r>
                    </a:p>
                  </a:txBody>
                  <a:tcPr>
                    <a:solidFill>
                      <a:srgbClr val="19293F"/>
                    </a:solidFill>
                  </a:tcPr>
                </a:tc>
                <a:tc>
                  <a:txBody>
                    <a:bodyPr/>
                    <a:lstStyle/>
                    <a:p>
                      <a:pPr algn="ctr">
                        <a:defRPr sz="1700">
                          <a:solidFill>
                            <a:srgbClr val="EDF3FC"/>
                          </a:solidFill>
                        </a:defRPr>
                      </a:pPr>
                      <a:r>
                        <a:t>1</a:t>
                      </a:r>
                    </a:p>
                  </a:txBody>
                  <a:tcPr>
                    <a:solidFill>
                      <a:srgbClr val="19293F"/>
                    </a:solidFill>
                  </a:tcPr>
                </a:tc>
              </a:tr>
              <a:tr h="256032">
                <a:tc>
                  <a:txBody>
                    <a:bodyPr/>
                    <a:lstStyle/>
                    <a:p>
                      <a:pPr algn="ctr">
                        <a:defRPr sz="1700">
                          <a:solidFill>
                            <a:srgbClr val="EDF3FC"/>
                          </a:solidFill>
                        </a:defRPr>
                      </a:pPr>
                      <a:r>
                        <a:t>1</a:t>
                      </a:r>
                    </a:p>
                  </a:txBody>
                  <a:tcPr>
                    <a:solidFill>
                      <a:srgbClr val="19293F"/>
                    </a:solidFill>
                  </a:tcPr>
                </a:tc>
                <a:tc>
                  <a:txBody>
                    <a:bodyPr/>
                    <a:lstStyle/>
                    <a:p>
                      <a:pPr algn="ctr">
                        <a:defRPr sz="1700">
                          <a:solidFill>
                            <a:srgbClr val="EDF3FC"/>
                          </a:solidFill>
                        </a:defRPr>
                      </a:pPr>
                      <a:r>
                        <a:t>0</a:t>
                      </a:r>
                    </a:p>
                  </a:txBody>
                  <a:tcPr>
                    <a:solidFill>
                      <a:srgbClr val="19293F"/>
                    </a:solidFill>
                  </a:tcPr>
                </a:tc>
                <a:tc>
                  <a:txBody>
                    <a:bodyPr/>
                    <a:lstStyle/>
                    <a:p>
                      <a:pPr algn="ctr">
                        <a:defRPr sz="1700">
                          <a:solidFill>
                            <a:srgbClr val="EDF3FC"/>
                          </a:solidFill>
                        </a:defRPr>
                      </a:pPr>
                      <a:r>
                        <a:t>1</a:t>
                      </a:r>
                    </a:p>
                  </a:txBody>
                  <a:tcPr>
                    <a:solidFill>
                      <a:srgbClr val="19293F"/>
                    </a:solidFill>
                  </a:tcPr>
                </a:tc>
              </a:tr>
              <a:tr h="256032">
                <a:tc>
                  <a:txBody>
                    <a:bodyPr/>
                    <a:lstStyle/>
                    <a:p>
                      <a:pPr algn="ctr">
                        <a:defRPr sz="1700">
                          <a:solidFill>
                            <a:srgbClr val="EDF3FC"/>
                          </a:solidFill>
                        </a:defRPr>
                      </a:pPr>
                      <a:r>
                        <a:t>1</a:t>
                      </a:r>
                    </a:p>
                  </a:txBody>
                  <a:tcPr>
                    <a:solidFill>
                      <a:srgbClr val="19293F"/>
                    </a:solidFill>
                  </a:tcPr>
                </a:tc>
                <a:tc>
                  <a:txBody>
                    <a:bodyPr/>
                    <a:lstStyle/>
                    <a:p>
                      <a:pPr algn="ctr">
                        <a:defRPr sz="1700">
                          <a:solidFill>
                            <a:srgbClr val="EDF3FC"/>
                          </a:solidFill>
                        </a:defRPr>
                      </a:pPr>
                      <a:r>
                        <a:t>1</a:t>
                      </a:r>
                    </a:p>
                  </a:txBody>
                  <a:tcPr>
                    <a:solidFill>
                      <a:srgbClr val="19293F"/>
                    </a:solidFill>
                  </a:tcPr>
                </a:tc>
                <a:tc>
                  <a:txBody>
                    <a:bodyPr/>
                    <a:lstStyle/>
                    <a:p>
                      <a:pPr algn="ctr">
                        <a:defRPr sz="1700">
                          <a:solidFill>
                            <a:srgbClr val="EDF3FC"/>
                          </a:solidFill>
                        </a:defRPr>
                      </a:pPr>
                      <a:r>
                        <a:t>0</a:t>
                      </a:r>
                    </a:p>
                  </a:txBody>
                  <a:tcPr>
                    <a:solidFill>
                      <a:srgbClr val="19293F"/>
                    </a:solidFill>
                  </a:tcPr>
                </a:tc>
              </a:tr>
            </a:tbl>
          </a:graphicData>
        </a:graphic>
      </p:graphicFrame>
      <p:graphicFrame>
        <p:nvGraphicFramePr>
          <p:cNvPr id="5" name="Table 4"/>
          <p:cNvGraphicFramePr>
            <a:graphicFrameLocks noGrp="1"/>
          </p:cNvGraphicFramePr>
          <p:nvPr/>
        </p:nvGraphicFramePr>
        <p:xfrm>
          <a:off x="3840480" y="914400"/>
          <a:ext cx="2834640" cy="1280160"/>
        </p:xfrm>
        <a:graphic>
          <a:graphicData uri="http://schemas.openxmlformats.org/drawingml/2006/table">
            <a:tbl>
              <a:tblPr firstRow="1" bandRow="1">
                <a:tableStyleId>{5C22544A-7EE6-4342-B048-85BDC9FD1C3A}</a:tableStyleId>
              </a:tblPr>
              <a:tblGrid>
                <a:gridCol w="944880"/>
                <a:gridCol w="944880"/>
                <a:gridCol w="944880"/>
              </a:tblGrid>
              <a:tr h="256032">
                <a:tc>
                  <a:txBody>
                    <a:bodyPr/>
                    <a:lstStyle/>
                    <a:p>
                      <a:pPr algn="ctr">
                        <a:defRPr sz="1700" b="1">
                          <a:solidFill>
                            <a:srgbClr val="0C1626"/>
                          </a:solidFill>
                        </a:defRPr>
                      </a:pPr>
                      <a:r>
                        <a:t>A</a:t>
                      </a:r>
                    </a:p>
                  </a:txBody>
                  <a:tcPr>
                    <a:solidFill>
                      <a:srgbClr val="1292A6"/>
                    </a:solidFill>
                  </a:tcPr>
                </a:tc>
                <a:tc>
                  <a:txBody>
                    <a:bodyPr/>
                    <a:lstStyle/>
                    <a:p>
                      <a:pPr algn="ctr">
                        <a:defRPr sz="1700" b="1">
                          <a:solidFill>
                            <a:srgbClr val="0C1626"/>
                          </a:solidFill>
                        </a:defRPr>
                      </a:pPr>
                      <a:r>
                        <a:t>B</a:t>
                      </a:r>
                    </a:p>
                  </a:txBody>
                  <a:tcPr>
                    <a:solidFill>
                      <a:srgbClr val="1292A6"/>
                    </a:solidFill>
                  </a:tcPr>
                </a:tc>
                <a:tc>
                  <a:txBody>
                    <a:bodyPr/>
                    <a:lstStyle/>
                    <a:p>
                      <a:pPr algn="ctr">
                        <a:defRPr sz="1700" b="1">
                          <a:solidFill>
                            <a:srgbClr val="0C1626"/>
                          </a:solidFill>
                        </a:defRPr>
                      </a:pPr>
                      <a:r>
                        <a:t>XNOR</a:t>
                      </a:r>
                    </a:p>
                  </a:txBody>
                  <a:tcPr>
                    <a:solidFill>
                      <a:srgbClr val="1292A6"/>
                    </a:solidFill>
                  </a:tcPr>
                </a:tc>
              </a:tr>
              <a:tr h="256032">
                <a:tc>
                  <a:txBody>
                    <a:bodyPr/>
                    <a:lstStyle/>
                    <a:p>
                      <a:pPr algn="ctr">
                        <a:defRPr sz="1700">
                          <a:solidFill>
                            <a:srgbClr val="EDF3FC"/>
                          </a:solidFill>
                        </a:defRPr>
                      </a:pPr>
                      <a:r>
                        <a:t>0</a:t>
                      </a:r>
                    </a:p>
                  </a:txBody>
                  <a:tcPr>
                    <a:solidFill>
                      <a:srgbClr val="19293F"/>
                    </a:solidFill>
                  </a:tcPr>
                </a:tc>
                <a:tc>
                  <a:txBody>
                    <a:bodyPr/>
                    <a:lstStyle/>
                    <a:p>
                      <a:pPr algn="ctr">
                        <a:defRPr sz="1700">
                          <a:solidFill>
                            <a:srgbClr val="EDF3FC"/>
                          </a:solidFill>
                        </a:defRPr>
                      </a:pPr>
                      <a:r>
                        <a:t>0</a:t>
                      </a:r>
                    </a:p>
                  </a:txBody>
                  <a:tcPr>
                    <a:solidFill>
                      <a:srgbClr val="19293F"/>
                    </a:solidFill>
                  </a:tcPr>
                </a:tc>
                <a:tc>
                  <a:txBody>
                    <a:bodyPr/>
                    <a:lstStyle/>
                    <a:p>
                      <a:pPr algn="ctr">
                        <a:defRPr sz="1700">
                          <a:solidFill>
                            <a:srgbClr val="EDF3FC"/>
                          </a:solidFill>
                        </a:defRPr>
                      </a:pPr>
                      <a:r>
                        <a:t>1</a:t>
                      </a:r>
                    </a:p>
                  </a:txBody>
                  <a:tcPr>
                    <a:solidFill>
                      <a:srgbClr val="19293F"/>
                    </a:solidFill>
                  </a:tcPr>
                </a:tc>
              </a:tr>
              <a:tr h="256032">
                <a:tc>
                  <a:txBody>
                    <a:bodyPr/>
                    <a:lstStyle/>
                    <a:p>
                      <a:pPr algn="ctr">
                        <a:defRPr sz="1700">
                          <a:solidFill>
                            <a:srgbClr val="EDF3FC"/>
                          </a:solidFill>
                        </a:defRPr>
                      </a:pPr>
                      <a:r>
                        <a:t>0</a:t>
                      </a:r>
                    </a:p>
                  </a:txBody>
                  <a:tcPr>
                    <a:solidFill>
                      <a:srgbClr val="19293F"/>
                    </a:solidFill>
                  </a:tcPr>
                </a:tc>
                <a:tc>
                  <a:txBody>
                    <a:bodyPr/>
                    <a:lstStyle/>
                    <a:p>
                      <a:pPr algn="ctr">
                        <a:defRPr sz="1700">
                          <a:solidFill>
                            <a:srgbClr val="EDF3FC"/>
                          </a:solidFill>
                        </a:defRPr>
                      </a:pPr>
                      <a:r>
                        <a:t>1</a:t>
                      </a:r>
                    </a:p>
                  </a:txBody>
                  <a:tcPr>
                    <a:solidFill>
                      <a:srgbClr val="19293F"/>
                    </a:solidFill>
                  </a:tcPr>
                </a:tc>
                <a:tc>
                  <a:txBody>
                    <a:bodyPr/>
                    <a:lstStyle/>
                    <a:p>
                      <a:pPr algn="ctr">
                        <a:defRPr sz="1700">
                          <a:solidFill>
                            <a:srgbClr val="EDF3FC"/>
                          </a:solidFill>
                        </a:defRPr>
                      </a:pPr>
                      <a:r>
                        <a:t>0</a:t>
                      </a:r>
                    </a:p>
                  </a:txBody>
                  <a:tcPr>
                    <a:solidFill>
                      <a:srgbClr val="19293F"/>
                    </a:solidFill>
                  </a:tcPr>
                </a:tc>
              </a:tr>
              <a:tr h="256032">
                <a:tc>
                  <a:txBody>
                    <a:bodyPr/>
                    <a:lstStyle/>
                    <a:p>
                      <a:pPr algn="ctr">
                        <a:defRPr sz="1700">
                          <a:solidFill>
                            <a:srgbClr val="EDF3FC"/>
                          </a:solidFill>
                        </a:defRPr>
                      </a:pPr>
                      <a:r>
                        <a:t>1</a:t>
                      </a:r>
                    </a:p>
                  </a:txBody>
                  <a:tcPr>
                    <a:solidFill>
                      <a:srgbClr val="19293F"/>
                    </a:solidFill>
                  </a:tcPr>
                </a:tc>
                <a:tc>
                  <a:txBody>
                    <a:bodyPr/>
                    <a:lstStyle/>
                    <a:p>
                      <a:pPr algn="ctr">
                        <a:defRPr sz="1700">
                          <a:solidFill>
                            <a:srgbClr val="EDF3FC"/>
                          </a:solidFill>
                        </a:defRPr>
                      </a:pPr>
                      <a:r>
                        <a:t>0</a:t>
                      </a:r>
                    </a:p>
                  </a:txBody>
                  <a:tcPr>
                    <a:solidFill>
                      <a:srgbClr val="19293F"/>
                    </a:solidFill>
                  </a:tcPr>
                </a:tc>
                <a:tc>
                  <a:txBody>
                    <a:bodyPr/>
                    <a:lstStyle/>
                    <a:p>
                      <a:pPr algn="ctr">
                        <a:defRPr sz="1700">
                          <a:solidFill>
                            <a:srgbClr val="EDF3FC"/>
                          </a:solidFill>
                        </a:defRPr>
                      </a:pPr>
                      <a:r>
                        <a:t>0</a:t>
                      </a:r>
                    </a:p>
                  </a:txBody>
                  <a:tcPr>
                    <a:solidFill>
                      <a:srgbClr val="19293F"/>
                    </a:solidFill>
                  </a:tcPr>
                </a:tc>
              </a:tr>
              <a:tr h="256032">
                <a:tc>
                  <a:txBody>
                    <a:bodyPr/>
                    <a:lstStyle/>
                    <a:p>
                      <a:pPr algn="ctr">
                        <a:defRPr sz="1700">
                          <a:solidFill>
                            <a:srgbClr val="EDF3FC"/>
                          </a:solidFill>
                        </a:defRPr>
                      </a:pPr>
                      <a:r>
                        <a:t>1</a:t>
                      </a:r>
                    </a:p>
                  </a:txBody>
                  <a:tcPr>
                    <a:solidFill>
                      <a:srgbClr val="19293F"/>
                    </a:solidFill>
                  </a:tcPr>
                </a:tc>
                <a:tc>
                  <a:txBody>
                    <a:bodyPr/>
                    <a:lstStyle/>
                    <a:p>
                      <a:pPr algn="ctr">
                        <a:defRPr sz="1700">
                          <a:solidFill>
                            <a:srgbClr val="EDF3FC"/>
                          </a:solidFill>
                        </a:defRPr>
                      </a:pPr>
                      <a:r>
                        <a:t>1</a:t>
                      </a:r>
                    </a:p>
                  </a:txBody>
                  <a:tcPr>
                    <a:solidFill>
                      <a:srgbClr val="19293F"/>
                    </a:solidFill>
                  </a:tcPr>
                </a:tc>
                <a:tc>
                  <a:txBody>
                    <a:bodyPr/>
                    <a:lstStyle/>
                    <a:p>
                      <a:pPr algn="ctr">
                        <a:defRPr sz="1700">
                          <a:solidFill>
                            <a:srgbClr val="EDF3FC"/>
                          </a:solidFill>
                        </a:defRPr>
                      </a:pPr>
                      <a:r>
                        <a:t>1</a:t>
                      </a:r>
                    </a:p>
                  </a:txBody>
                  <a:tcPr>
                    <a:solidFill>
                      <a:srgbClr val="19293F"/>
                    </a:solidFill>
                  </a:tcPr>
                </a:tc>
              </a:tr>
            </a:tbl>
          </a:graphicData>
        </a:graphic>
      </p:graphicFrame>
      <p:sp>
        <p:nvSpPr>
          <p:cNvPr id="6" name="TextBox 5"/>
          <p:cNvSpPr txBox="1"/>
          <p:nvPr/>
        </p:nvSpPr>
        <p:spPr>
          <a:xfrm>
            <a:off x="640080" y="2560320"/>
            <a:ext cx="7680960" cy="3657600"/>
          </a:xfrm>
          <a:prstGeom prst="rect">
            <a:avLst/>
          </a:prstGeom>
          <a:noFill/>
        </p:spPr>
        <p:txBody>
          <a:bodyPr wrap="square">
            <a:spAutoFit/>
          </a:bodyPr>
          <a:lstStyle/>
          <a:p>
            <a:pPr>
              <a:defRPr sz="3000" b="1">
                <a:solidFill>
                  <a:srgbClr val="EDF3FC"/>
                </a:solidFill>
              </a:defRPr>
            </a:pPr>
            <a:r>
              <a:t>Where they show up</a:t>
            </a:r>
          </a:p>
          <a:p>
            <a:pPr lvl="1">
              <a:lnSpc>
                <a:spcPct val="110000"/>
              </a:lnSpc>
              <a:defRPr sz="2000">
                <a:solidFill>
                  <a:srgbClr val="B8C9E2"/>
                </a:solidFill>
              </a:defRPr>
            </a:pPr>
            <a:r>
              <a:t>XOR: exactly one input true — parity checks and toggles.</a:t>
            </a:r>
          </a:p>
          <a:p>
            <a:pPr lvl="1">
              <a:lnSpc>
                <a:spcPct val="110000"/>
              </a:lnSpc>
              <a:defRPr sz="2000">
                <a:solidFill>
                  <a:srgbClr val="B8C9E2"/>
                </a:solidFill>
              </a:defRPr>
            </a:pPr>
            <a:r>
              <a:t>XNOR: inputs match — equality checks and comparators.</a:t>
            </a:r>
          </a:p>
          <a:p>
            <a:pPr lvl="1">
              <a:lnSpc>
                <a:spcPct val="110000"/>
              </a:lnSpc>
              <a:defRPr sz="2000">
                <a:solidFill>
                  <a:srgbClr val="B8C9E2"/>
                </a:solidFill>
              </a:defRPr>
            </a:pPr>
            <a:r>
              <a:t>UI toggles use XOR; storage checks often use XNOR.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C1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457200"/>
          </a:xfrm>
          <a:prstGeom prst="rect">
            <a:avLst/>
          </a:prstGeom>
          <a:solidFill>
            <a:srgbClr val="1292A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0C1626"/>
                </a:solidFill>
              </a:defRPr>
            </a:pPr>
            <a:r>
              <a:t>Composing Gates: Adders</a:t>
            </a:r>
          </a:p>
        </p:txBody>
      </p:sp>
      <p:graphicFrame>
        <p:nvGraphicFramePr>
          <p:cNvPr id="4" name="Table 3"/>
          <p:cNvGraphicFramePr>
            <a:graphicFrameLocks noGrp="1"/>
          </p:cNvGraphicFramePr>
          <p:nvPr/>
        </p:nvGraphicFramePr>
        <p:xfrm>
          <a:off x="548640" y="914400"/>
          <a:ext cx="3840480" cy="1463040"/>
        </p:xfrm>
        <a:graphic>
          <a:graphicData uri="http://schemas.openxmlformats.org/drawingml/2006/table">
            <a:tbl>
              <a:tblPr firstRow="1" bandRow="1">
                <a:tableStyleId>{5C22544A-7EE6-4342-B048-85BDC9FD1C3A}</a:tableStyleId>
              </a:tblPr>
              <a:tblGrid>
                <a:gridCol w="960120"/>
                <a:gridCol w="960120"/>
                <a:gridCol w="960120"/>
                <a:gridCol w="960120"/>
              </a:tblGrid>
              <a:tr h="292608">
                <a:tc>
                  <a:txBody>
                    <a:bodyPr/>
                    <a:lstStyle/>
                    <a:p>
                      <a:pPr algn="ctr">
                        <a:defRPr sz="1700" b="1">
                          <a:solidFill>
                            <a:srgbClr val="0C1626"/>
                          </a:solidFill>
                        </a:defRPr>
                      </a:pPr>
                      <a:r>
                        <a:t>A</a:t>
                      </a:r>
                    </a:p>
                  </a:txBody>
                  <a:tcPr>
                    <a:solidFill>
                      <a:srgbClr val="1292A6"/>
                    </a:solidFill>
                  </a:tcPr>
                </a:tc>
                <a:tc>
                  <a:txBody>
                    <a:bodyPr/>
                    <a:lstStyle/>
                    <a:p>
                      <a:pPr algn="ctr">
                        <a:defRPr sz="1700" b="1">
                          <a:solidFill>
                            <a:srgbClr val="0C1626"/>
                          </a:solidFill>
                        </a:defRPr>
                      </a:pPr>
                      <a:r>
                        <a:t>B</a:t>
                      </a:r>
                    </a:p>
                  </a:txBody>
                  <a:tcPr>
                    <a:solidFill>
                      <a:srgbClr val="1292A6"/>
                    </a:solidFill>
                  </a:tcPr>
                </a:tc>
                <a:tc>
                  <a:txBody>
                    <a:bodyPr/>
                    <a:lstStyle/>
                    <a:p>
                      <a:pPr algn="ctr">
                        <a:defRPr sz="1700" b="1">
                          <a:solidFill>
                            <a:srgbClr val="0C1626"/>
                          </a:solidFill>
                        </a:defRPr>
                      </a:pPr>
                      <a:r>
                        <a:t>Sum</a:t>
                      </a:r>
                    </a:p>
                  </a:txBody>
                  <a:tcPr>
                    <a:solidFill>
                      <a:srgbClr val="1292A6"/>
                    </a:solidFill>
                  </a:tcPr>
                </a:tc>
                <a:tc>
                  <a:txBody>
                    <a:bodyPr/>
                    <a:lstStyle/>
                    <a:p>
                      <a:pPr algn="ctr">
                        <a:defRPr sz="1700" b="1">
                          <a:solidFill>
                            <a:srgbClr val="0C1626"/>
                          </a:solidFill>
                        </a:defRPr>
                      </a:pPr>
                      <a:r>
                        <a:t>Carry</a:t>
                      </a:r>
                    </a:p>
                  </a:txBody>
                  <a:tcPr>
                    <a:solidFill>
                      <a:srgbClr val="1292A6"/>
                    </a:solidFill>
                  </a:tcPr>
                </a:tc>
              </a:tr>
              <a:tr h="292608">
                <a:tc>
                  <a:txBody>
                    <a:bodyPr/>
                    <a:lstStyle/>
                    <a:p>
                      <a:pPr algn="ctr">
                        <a:defRPr sz="1700">
                          <a:solidFill>
                            <a:srgbClr val="EDF3FC"/>
                          </a:solidFill>
                        </a:defRPr>
                      </a:pPr>
                      <a:r>
                        <a:t>0</a:t>
                      </a:r>
                    </a:p>
                  </a:txBody>
                  <a:tcPr>
                    <a:solidFill>
                      <a:srgbClr val="19293F"/>
                    </a:solidFill>
                  </a:tcPr>
                </a:tc>
                <a:tc>
                  <a:txBody>
                    <a:bodyPr/>
                    <a:lstStyle/>
                    <a:p>
                      <a:pPr algn="ctr">
                        <a:defRPr sz="1700">
                          <a:solidFill>
                            <a:srgbClr val="EDF3FC"/>
                          </a:solidFill>
                        </a:defRPr>
                      </a:pPr>
                      <a:r>
                        <a:t>0</a:t>
                      </a:r>
                    </a:p>
                  </a:txBody>
                  <a:tcPr>
                    <a:solidFill>
                      <a:srgbClr val="19293F"/>
                    </a:solidFill>
                  </a:tcPr>
                </a:tc>
                <a:tc>
                  <a:txBody>
                    <a:bodyPr/>
                    <a:lstStyle/>
                    <a:p>
                      <a:pPr algn="ctr">
                        <a:defRPr sz="1700">
                          <a:solidFill>
                            <a:srgbClr val="EDF3FC"/>
                          </a:solidFill>
                        </a:defRPr>
                      </a:pPr>
                      <a:r>
                        <a:t>0</a:t>
                      </a:r>
                    </a:p>
                  </a:txBody>
                  <a:tcPr>
                    <a:solidFill>
                      <a:srgbClr val="19293F"/>
                    </a:solidFill>
                  </a:tcPr>
                </a:tc>
                <a:tc>
                  <a:txBody>
                    <a:bodyPr/>
                    <a:lstStyle/>
                    <a:p>
                      <a:pPr algn="ctr">
                        <a:defRPr sz="1700">
                          <a:solidFill>
                            <a:srgbClr val="EDF3FC"/>
                          </a:solidFill>
                        </a:defRPr>
                      </a:pPr>
                      <a:r>
                        <a:t>0</a:t>
                      </a:r>
                    </a:p>
                  </a:txBody>
                  <a:tcPr>
                    <a:solidFill>
                      <a:srgbClr val="19293F"/>
                    </a:solidFill>
                  </a:tcPr>
                </a:tc>
              </a:tr>
              <a:tr h="292608">
                <a:tc>
                  <a:txBody>
                    <a:bodyPr/>
                    <a:lstStyle/>
                    <a:p>
                      <a:pPr algn="ctr">
                        <a:defRPr sz="1700">
                          <a:solidFill>
                            <a:srgbClr val="EDF3FC"/>
                          </a:solidFill>
                        </a:defRPr>
                      </a:pPr>
                      <a:r>
                        <a:t>0</a:t>
                      </a:r>
                    </a:p>
                  </a:txBody>
                  <a:tcPr>
                    <a:solidFill>
                      <a:srgbClr val="19293F"/>
                    </a:solidFill>
                  </a:tcPr>
                </a:tc>
                <a:tc>
                  <a:txBody>
                    <a:bodyPr/>
                    <a:lstStyle/>
                    <a:p>
                      <a:pPr algn="ctr">
                        <a:defRPr sz="1700">
                          <a:solidFill>
                            <a:srgbClr val="EDF3FC"/>
                          </a:solidFill>
                        </a:defRPr>
                      </a:pPr>
                      <a:r>
                        <a:t>1</a:t>
                      </a:r>
                    </a:p>
                  </a:txBody>
                  <a:tcPr>
                    <a:solidFill>
                      <a:srgbClr val="19293F"/>
                    </a:solidFill>
                  </a:tcPr>
                </a:tc>
                <a:tc>
                  <a:txBody>
                    <a:bodyPr/>
                    <a:lstStyle/>
                    <a:p>
                      <a:pPr algn="ctr">
                        <a:defRPr sz="1700">
                          <a:solidFill>
                            <a:srgbClr val="EDF3FC"/>
                          </a:solidFill>
                        </a:defRPr>
                      </a:pPr>
                      <a:r>
                        <a:t>1</a:t>
                      </a:r>
                    </a:p>
                  </a:txBody>
                  <a:tcPr>
                    <a:solidFill>
                      <a:srgbClr val="19293F"/>
                    </a:solidFill>
                  </a:tcPr>
                </a:tc>
                <a:tc>
                  <a:txBody>
                    <a:bodyPr/>
                    <a:lstStyle/>
                    <a:p>
                      <a:pPr algn="ctr">
                        <a:defRPr sz="1700">
                          <a:solidFill>
                            <a:srgbClr val="EDF3FC"/>
                          </a:solidFill>
                        </a:defRPr>
                      </a:pPr>
                      <a:r>
                        <a:t>0</a:t>
                      </a:r>
                    </a:p>
                  </a:txBody>
                  <a:tcPr>
                    <a:solidFill>
                      <a:srgbClr val="19293F"/>
                    </a:solidFill>
                  </a:tcPr>
                </a:tc>
              </a:tr>
              <a:tr h="292608">
                <a:tc>
                  <a:txBody>
                    <a:bodyPr/>
                    <a:lstStyle/>
                    <a:p>
                      <a:pPr algn="ctr">
                        <a:defRPr sz="1700">
                          <a:solidFill>
                            <a:srgbClr val="EDF3FC"/>
                          </a:solidFill>
                        </a:defRPr>
                      </a:pPr>
                      <a:r>
                        <a:t>1</a:t>
                      </a:r>
                    </a:p>
                  </a:txBody>
                  <a:tcPr>
                    <a:solidFill>
                      <a:srgbClr val="19293F"/>
                    </a:solidFill>
                  </a:tcPr>
                </a:tc>
                <a:tc>
                  <a:txBody>
                    <a:bodyPr/>
                    <a:lstStyle/>
                    <a:p>
                      <a:pPr algn="ctr">
                        <a:defRPr sz="1700">
                          <a:solidFill>
                            <a:srgbClr val="EDF3FC"/>
                          </a:solidFill>
                        </a:defRPr>
                      </a:pPr>
                      <a:r>
                        <a:t>0</a:t>
                      </a:r>
                    </a:p>
                  </a:txBody>
                  <a:tcPr>
                    <a:solidFill>
                      <a:srgbClr val="19293F"/>
                    </a:solidFill>
                  </a:tcPr>
                </a:tc>
                <a:tc>
                  <a:txBody>
                    <a:bodyPr/>
                    <a:lstStyle/>
                    <a:p>
                      <a:pPr algn="ctr">
                        <a:defRPr sz="1700">
                          <a:solidFill>
                            <a:srgbClr val="EDF3FC"/>
                          </a:solidFill>
                        </a:defRPr>
                      </a:pPr>
                      <a:r>
                        <a:t>1</a:t>
                      </a:r>
                    </a:p>
                  </a:txBody>
                  <a:tcPr>
                    <a:solidFill>
                      <a:srgbClr val="19293F"/>
                    </a:solidFill>
                  </a:tcPr>
                </a:tc>
                <a:tc>
                  <a:txBody>
                    <a:bodyPr/>
                    <a:lstStyle/>
                    <a:p>
                      <a:pPr algn="ctr">
                        <a:defRPr sz="1700">
                          <a:solidFill>
                            <a:srgbClr val="EDF3FC"/>
                          </a:solidFill>
                        </a:defRPr>
                      </a:pPr>
                      <a:r>
                        <a:t>0</a:t>
                      </a:r>
                    </a:p>
                  </a:txBody>
                  <a:tcPr>
                    <a:solidFill>
                      <a:srgbClr val="19293F"/>
                    </a:solidFill>
                  </a:tcPr>
                </a:tc>
              </a:tr>
              <a:tr h="292608">
                <a:tc>
                  <a:txBody>
                    <a:bodyPr/>
                    <a:lstStyle/>
                    <a:p>
                      <a:pPr algn="ctr">
                        <a:defRPr sz="1700">
                          <a:solidFill>
                            <a:srgbClr val="EDF3FC"/>
                          </a:solidFill>
                        </a:defRPr>
                      </a:pPr>
                      <a:r>
                        <a:t>1</a:t>
                      </a:r>
                    </a:p>
                  </a:txBody>
                  <a:tcPr>
                    <a:solidFill>
                      <a:srgbClr val="19293F"/>
                    </a:solidFill>
                  </a:tcPr>
                </a:tc>
                <a:tc>
                  <a:txBody>
                    <a:bodyPr/>
                    <a:lstStyle/>
                    <a:p>
                      <a:pPr algn="ctr">
                        <a:defRPr sz="1700">
                          <a:solidFill>
                            <a:srgbClr val="EDF3FC"/>
                          </a:solidFill>
                        </a:defRPr>
                      </a:pPr>
                      <a:r>
                        <a:t>1</a:t>
                      </a:r>
                    </a:p>
                  </a:txBody>
                  <a:tcPr>
                    <a:solidFill>
                      <a:srgbClr val="19293F"/>
                    </a:solidFill>
                  </a:tcPr>
                </a:tc>
                <a:tc>
                  <a:txBody>
                    <a:bodyPr/>
                    <a:lstStyle/>
                    <a:p>
                      <a:pPr algn="ctr">
                        <a:defRPr sz="1700">
                          <a:solidFill>
                            <a:srgbClr val="EDF3FC"/>
                          </a:solidFill>
                        </a:defRPr>
                      </a:pPr>
                      <a:r>
                        <a:t>0</a:t>
                      </a:r>
                    </a:p>
                  </a:txBody>
                  <a:tcPr>
                    <a:solidFill>
                      <a:srgbClr val="19293F"/>
                    </a:solidFill>
                  </a:tcPr>
                </a:tc>
                <a:tc>
                  <a:txBody>
                    <a:bodyPr/>
                    <a:lstStyle/>
                    <a:p>
                      <a:pPr algn="ctr">
                        <a:defRPr sz="1700">
                          <a:solidFill>
                            <a:srgbClr val="EDF3FC"/>
                          </a:solidFill>
                        </a:defRPr>
                      </a:pPr>
                      <a:r>
                        <a:t>1</a:t>
                      </a:r>
                    </a:p>
                  </a:txBody>
                  <a:tcPr>
                    <a:solidFill>
                      <a:srgbClr val="19293F"/>
                    </a:solidFill>
                  </a:tcPr>
                </a:tc>
              </a:tr>
            </a:tbl>
          </a:graphicData>
        </a:graphic>
      </p:graphicFrame>
      <p:sp>
        <p:nvSpPr>
          <p:cNvPr id="5" name="TextBox 4"/>
          <p:cNvSpPr txBox="1"/>
          <p:nvPr/>
        </p:nvSpPr>
        <p:spPr>
          <a:xfrm>
            <a:off x="4572000" y="914400"/>
            <a:ext cx="4023360" cy="1828800"/>
          </a:xfrm>
          <a:prstGeom prst="rect">
            <a:avLst/>
          </a:prstGeom>
          <a:noFill/>
        </p:spPr>
        <p:txBody>
          <a:bodyPr wrap="square">
            <a:spAutoFit/>
          </a:bodyPr>
          <a:lstStyle/>
          <a:p>
            <a:pPr>
              <a:defRPr sz="2400" b="1">
                <a:solidFill>
                  <a:srgbClr val="EDF3FC"/>
                </a:solidFill>
              </a:defRPr>
            </a:pPr>
            <a:r>
              <a:t>Half adder</a:t>
            </a:r>
          </a:p>
          <a:p>
            <a:pPr lvl="1">
              <a:defRPr sz="1900">
                <a:solidFill>
                  <a:srgbClr val="B8C9E2"/>
                </a:solidFill>
              </a:defRPr>
            </a:pPr>
            <a:r>
              <a:t>Sum = XOR(A, B)</a:t>
            </a:r>
          </a:p>
          <a:p>
            <a:pPr lvl="1">
              <a:defRPr sz="1900">
                <a:solidFill>
                  <a:srgbClr val="B8C9E2"/>
                </a:solidFill>
              </a:defRPr>
            </a:pPr>
            <a:r>
              <a:t>Carry = AND(A, B)</a:t>
            </a:r>
          </a:p>
        </p:txBody>
      </p:sp>
      <p:sp>
        <p:nvSpPr>
          <p:cNvPr id="6" name="TextBox 5"/>
          <p:cNvSpPr txBox="1"/>
          <p:nvPr/>
        </p:nvSpPr>
        <p:spPr>
          <a:xfrm>
            <a:off x="548640" y="2651760"/>
            <a:ext cx="8046720" cy="2377440"/>
          </a:xfrm>
          <a:prstGeom prst="rect">
            <a:avLst/>
          </a:prstGeom>
          <a:noFill/>
        </p:spPr>
        <p:txBody>
          <a:bodyPr wrap="square">
            <a:spAutoFit/>
          </a:bodyPr>
          <a:lstStyle/>
          <a:p>
            <a:pPr>
              <a:defRPr sz="2400" b="1">
                <a:solidFill>
                  <a:srgbClr val="EDF3FC"/>
                </a:solidFill>
              </a:defRPr>
            </a:pPr>
            <a:r>
              <a:t>Full adder</a:t>
            </a:r>
          </a:p>
          <a:p>
            <a:pPr lvl="1">
              <a:defRPr sz="1900">
                <a:solidFill>
                  <a:srgbClr val="B8C9E2"/>
                </a:solidFill>
              </a:defRPr>
            </a:pPr>
            <a:r>
              <a:t>Adds A + B + carry-in.</a:t>
            </a:r>
          </a:p>
          <a:p>
            <a:pPr lvl="1">
              <a:defRPr sz="1900">
                <a:solidFill>
                  <a:srgbClr val="B8C9E2"/>
                </a:solidFill>
              </a:defRPr>
            </a:pPr>
            <a:r>
              <a:t>Sum = XOR(A, B, carry-in); carry-out = 1 when two or more inputs are 1.</a:t>
            </a:r>
          </a:p>
          <a:p>
            <a:pPr lvl="1">
              <a:defRPr sz="1900">
                <a:solidFill>
                  <a:srgbClr val="B8C9E2"/>
                </a:solidFill>
              </a:defRPr>
            </a:pPr>
            <a:r>
              <a:t>Chain full adders to build multi-bit arithmetic units.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C1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457200"/>
          </a:xfrm>
          <a:prstGeom prst="rect">
            <a:avLst/>
          </a:prstGeom>
          <a:solidFill>
            <a:srgbClr val="1292A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0C1626"/>
                </a:solidFill>
              </a:defRPr>
            </a:pPr>
            <a:r>
              <a:t>Diagram: Two-Factor Login</a:t>
            </a:r>
          </a:p>
        </p:txBody>
      </p:sp>
      <p:sp>
        <p:nvSpPr>
          <p:cNvPr id="4" name="Oval 3"/>
          <p:cNvSpPr/>
          <p:nvPr/>
        </p:nvSpPr>
        <p:spPr>
          <a:xfrm>
            <a:off x="822960" y="914400"/>
            <a:ext cx="594360" cy="594360"/>
          </a:xfrm>
          <a:prstGeom prst="ellipse">
            <a:avLst/>
          </a:prstGeom>
          <a:solidFill>
            <a:srgbClr val="19293F"/>
          </a:solidFill>
          <a:ln>
            <a:solidFill>
              <a:srgbClr val="B8C9E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EDF3FC"/>
                </a:solidFill>
              </a:defRPr>
            </a:pPr>
            <a:r>
              <a:t>Password OK</a:t>
            </a:r>
          </a:p>
        </p:txBody>
      </p:sp>
      <p:sp>
        <p:nvSpPr>
          <p:cNvPr id="5" name="Oval 4"/>
          <p:cNvSpPr/>
          <p:nvPr/>
        </p:nvSpPr>
        <p:spPr>
          <a:xfrm>
            <a:off x="822960" y="1737360"/>
            <a:ext cx="594360" cy="594360"/>
          </a:xfrm>
          <a:prstGeom prst="ellipse">
            <a:avLst/>
          </a:prstGeom>
          <a:solidFill>
            <a:srgbClr val="19293F"/>
          </a:solidFill>
          <a:ln>
            <a:solidFill>
              <a:srgbClr val="B8C9E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EDF3FC"/>
                </a:solidFill>
              </a:defRPr>
            </a:pPr>
            <a:r>
              <a:t>Code OK</a:t>
            </a:r>
          </a:p>
        </p:txBody>
      </p:sp>
      <p:sp>
        <p:nvSpPr>
          <p:cNvPr id="6" name="Trapezoid 5"/>
          <p:cNvSpPr/>
          <p:nvPr/>
        </p:nvSpPr>
        <p:spPr>
          <a:xfrm>
            <a:off x="1783080" y="1143000"/>
            <a:ext cx="1463040" cy="1097280"/>
          </a:xfrm>
          <a:prstGeom prst="trapezoid">
            <a:avLst/>
          </a:prstGeom>
          <a:solidFill>
            <a:srgbClr val="1292A6"/>
          </a:solidFill>
          <a:ln>
            <a:solidFill>
              <a:srgbClr val="FFB74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0C1626"/>
                </a:solidFill>
              </a:defRPr>
            </a:pPr>
            <a:r>
              <a:t>AND</a:t>
            </a:r>
          </a:p>
        </p:txBody>
      </p:sp>
      <p:sp>
        <p:nvSpPr>
          <p:cNvPr id="7" name="Oval 6"/>
          <p:cNvSpPr/>
          <p:nvPr/>
        </p:nvSpPr>
        <p:spPr>
          <a:xfrm>
            <a:off x="3703320" y="1463040"/>
            <a:ext cx="594360" cy="594360"/>
          </a:xfrm>
          <a:prstGeom prst="ellipse">
            <a:avLst/>
          </a:prstGeom>
          <a:solidFill>
            <a:srgbClr val="19293F"/>
          </a:solidFill>
          <a:ln>
            <a:solidFill>
              <a:srgbClr val="B8C9E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EDF3FC"/>
                </a:solidFill>
              </a:defRPr>
            </a:pPr>
            <a:r>
              <a:t>Unlock</a:t>
            </a:r>
          </a:p>
        </p:txBody>
      </p:sp>
      <p:cxnSp>
        <p:nvCxnSpPr>
          <p:cNvPr id="8" name="Connector 7"/>
          <p:cNvCxnSpPr/>
          <p:nvPr/>
        </p:nvCxnSpPr>
        <p:spPr>
          <a:xfrm>
            <a:off x="1417320" y="1234440"/>
            <a:ext cx="365760" cy="182880"/>
          </a:xfrm>
          <a:prstGeom prst="line">
            <a:avLst/>
          </a:prstGeom>
          <a:ln>
            <a:solidFill>
              <a:srgbClr val="B8C9E2"/>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417320" y="1874520"/>
            <a:ext cx="365760" cy="182880"/>
          </a:xfrm>
          <a:prstGeom prst="line">
            <a:avLst/>
          </a:prstGeom>
          <a:ln>
            <a:solidFill>
              <a:srgbClr val="B8C9E2"/>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246120" y="1691640"/>
            <a:ext cx="457200" cy="45720"/>
          </a:xfrm>
          <a:prstGeom prst="line">
            <a:avLst/>
          </a:prstGeom>
          <a:ln>
            <a:solidFill>
              <a:srgbClr val="B8C9E2"/>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657600" y="1371600"/>
            <a:ext cx="4389120" cy="1463040"/>
          </a:xfrm>
          <a:prstGeom prst="roundRect">
            <a:avLst/>
          </a:prstGeom>
          <a:solidFill>
            <a:srgbClr val="19293F"/>
          </a:solidFill>
          <a:ln>
            <a:solidFill>
              <a:srgbClr val="1292A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a:solidFill>
                  <a:srgbClr val="EDF3FC"/>
                </a:solidFill>
              </a:defRPr>
            </a:pPr>
            <a:r>
              <a:t>Output: unlock when password AND code are both true.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C1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457200"/>
          </a:xfrm>
          <a:prstGeom prst="rect">
            <a:avLst/>
          </a:prstGeom>
          <a:solidFill>
            <a:srgbClr val="1292A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0C1626"/>
                </a:solidFill>
              </a:defRPr>
            </a:pPr>
            <a:r>
              <a:t>Real-World Patterns</a:t>
            </a:r>
          </a:p>
        </p:txBody>
      </p:sp>
      <p:sp>
        <p:nvSpPr>
          <p:cNvPr id="4" name="TextBox 3"/>
          <p:cNvSpPr txBox="1"/>
          <p:nvPr/>
        </p:nvSpPr>
        <p:spPr>
          <a:xfrm>
            <a:off x="731520" y="914400"/>
            <a:ext cx="7680960" cy="5303520"/>
          </a:xfrm>
          <a:prstGeom prst="rect">
            <a:avLst/>
          </a:prstGeom>
          <a:noFill/>
        </p:spPr>
        <p:txBody>
          <a:bodyPr wrap="square">
            <a:spAutoFit/>
          </a:bodyPr>
          <a:lstStyle/>
          <a:p>
            <a:pPr>
              <a:defRPr sz="3000" b="1">
                <a:solidFill>
                  <a:srgbClr val="EDF3FC"/>
                </a:solidFill>
              </a:defRPr>
            </a:pPr>
            <a:r>
              <a:t>Examples:</a:t>
            </a:r>
          </a:p>
          <a:p>
            <a:pPr lvl="1">
              <a:lnSpc>
                <a:spcPct val="110000"/>
              </a:lnSpc>
              <a:defRPr sz="2000">
                <a:solidFill>
                  <a:srgbClr val="B8C9E2"/>
                </a:solidFill>
              </a:defRPr>
            </a:pPr>
            <a:r>
              <a:t>Safety: guards closed AND emergency stop NOT pressed.</a:t>
            </a:r>
          </a:p>
          <a:p>
            <a:pPr lvl="1">
              <a:lnSpc>
                <a:spcPct val="110000"/>
              </a:lnSpc>
              <a:defRPr sz="2000">
                <a:solidFill>
                  <a:srgbClr val="B8C9E2"/>
                </a:solidFill>
              </a:defRPr>
            </a:pPr>
            <a:r>
              <a:t>Alerts: smoke OR heat trips alarm; sprinkler adds AND overheat to cut false alarms.</a:t>
            </a:r>
          </a:p>
          <a:p>
            <a:pPr lvl="1">
              <a:lnSpc>
                <a:spcPct val="110000"/>
              </a:lnSpc>
              <a:defRPr sz="2000">
                <a:solidFill>
                  <a:srgbClr val="B8C9E2"/>
                </a:solidFill>
              </a:defRPr>
            </a:pPr>
            <a:r>
              <a:t>Networking: allow when source trusted AND destination allowed AND NOT throttled.</a:t>
            </a:r>
          </a:p>
          <a:p>
            <a:pPr lvl="1">
              <a:lnSpc>
                <a:spcPct val="110000"/>
              </a:lnSpc>
              <a:defRPr sz="2000">
                <a:solidFill>
                  <a:srgbClr val="B8C9E2"/>
                </a:solidFill>
              </a:defRPr>
            </a:pPr>
            <a:r>
              <a:t>UI toggle: dark mode XOR switch flips each click.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C1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457200"/>
          </a:xfrm>
          <a:prstGeom prst="rect">
            <a:avLst/>
          </a:prstGeom>
          <a:solidFill>
            <a:srgbClr val="1292A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0C1626"/>
                </a:solidFill>
              </a:defRPr>
            </a:pPr>
            <a:r>
              <a:t>Inside the CPU</a:t>
            </a:r>
          </a:p>
        </p:txBody>
      </p:sp>
      <p:sp>
        <p:nvSpPr>
          <p:cNvPr id="4" name="TextBox 3"/>
          <p:cNvSpPr txBox="1"/>
          <p:nvPr/>
        </p:nvSpPr>
        <p:spPr>
          <a:xfrm>
            <a:off x="731520" y="914400"/>
            <a:ext cx="7680960" cy="5303520"/>
          </a:xfrm>
          <a:prstGeom prst="rect">
            <a:avLst/>
          </a:prstGeom>
          <a:noFill/>
        </p:spPr>
        <p:txBody>
          <a:bodyPr wrap="square">
            <a:spAutoFit/>
          </a:bodyPr>
          <a:lstStyle/>
          <a:p>
            <a:pPr>
              <a:defRPr sz="3000" b="1">
                <a:solidFill>
                  <a:srgbClr val="EDF3FC"/>
                </a:solidFill>
              </a:defRPr>
            </a:pPr>
            <a:r>
              <a:t>Gate-driven blocks:</a:t>
            </a:r>
          </a:p>
          <a:p>
            <a:pPr lvl="1">
              <a:lnSpc>
                <a:spcPct val="110000"/>
              </a:lnSpc>
              <a:defRPr sz="2000">
                <a:solidFill>
                  <a:srgbClr val="B8C9E2"/>
                </a:solidFill>
              </a:defRPr>
            </a:pPr>
            <a:r>
              <a:t>Instruction decode: AND masks on opcode bits select a path.</a:t>
            </a:r>
          </a:p>
          <a:p>
            <a:pPr lvl="1">
              <a:lnSpc>
                <a:spcPct val="110000"/>
              </a:lnSpc>
              <a:defRPr sz="2000">
                <a:solidFill>
                  <a:srgbClr val="B8C9E2"/>
                </a:solidFill>
              </a:defRPr>
            </a:pPr>
            <a:r>
              <a:t>Control: OR chains raise flags like write-enable or branch.</a:t>
            </a:r>
          </a:p>
          <a:p>
            <a:pPr lvl="1">
              <a:lnSpc>
                <a:spcPct val="110000"/>
              </a:lnSpc>
              <a:defRPr sz="2000">
                <a:solidFill>
                  <a:srgbClr val="B8C9E2"/>
                </a:solidFill>
              </a:defRPr>
            </a:pPr>
            <a:r>
              <a:t>ALU: chains of adders implement +, -, and comparisons.</a:t>
            </a:r>
          </a:p>
          <a:p>
            <a:pPr lvl="1">
              <a:lnSpc>
                <a:spcPct val="110000"/>
              </a:lnSpc>
              <a:defRPr sz="2000">
                <a:solidFill>
                  <a:srgbClr val="B8C9E2"/>
                </a:solidFill>
              </a:defRPr>
            </a:pPr>
            <a:r>
              <a:t>Caches: tag match uses XNOR/XOR for equality and difference.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C1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457200"/>
          </a:xfrm>
          <a:prstGeom prst="rect">
            <a:avLst/>
          </a:prstGeom>
          <a:solidFill>
            <a:srgbClr val="1292A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0C1626"/>
                </a:solidFill>
              </a:defRPr>
            </a:pPr>
            <a:r>
              <a:t>Bitwise Operators in Code</a:t>
            </a:r>
          </a:p>
        </p:txBody>
      </p:sp>
      <p:sp>
        <p:nvSpPr>
          <p:cNvPr id="4" name="TextBox 3"/>
          <p:cNvSpPr txBox="1"/>
          <p:nvPr/>
        </p:nvSpPr>
        <p:spPr>
          <a:xfrm>
            <a:off x="731520" y="914400"/>
            <a:ext cx="7680960" cy="4389120"/>
          </a:xfrm>
          <a:prstGeom prst="rect">
            <a:avLst/>
          </a:prstGeom>
          <a:noFill/>
        </p:spPr>
        <p:txBody>
          <a:bodyPr wrap="square">
            <a:spAutoFit/>
          </a:bodyPr>
          <a:lstStyle/>
          <a:p>
            <a:pPr>
              <a:defRPr sz="2800" b="1">
                <a:solidFill>
                  <a:srgbClr val="EDF3FC"/>
                </a:solidFill>
              </a:defRPr>
            </a:pPr>
            <a:r>
              <a:t>Example (Python)</a:t>
            </a:r>
          </a:p>
          <a:p>
            <a:pPr lvl="1">
              <a:defRPr sz="1800">
                <a:solidFill>
                  <a:srgbClr val="B8C9E2"/>
                </a:solidFill>
                <a:latin typeface="Courier New"/>
              </a:defRPr>
            </a:pPr>
            <a:r>
              <a:t>mask = 0b1010  # feature flags</a:t>
            </a:r>
            <a:br/>
            <a:r>
              <a:t>user = 0b1110  # current settings</a:t>
            </a:r>
            <a:br/>
            <a:r>
              <a:t># AND: is flag 0b0010 on?</a:t>
            </a:r>
            <a:br/>
            <a:r>
              <a:t>enabled = bool(user &amp; 0b0010)</a:t>
            </a:r>
            <a:br/>
            <a:r>
              <a:t># XOR: toggle a flag</a:t>
            </a:r>
            <a:br/>
            <a:r>
              <a:t>user ^= 0b1000</a:t>
            </a:r>
            <a:br/>
            <a:r>
              <a:t># OR: force-enable a flag</a:t>
            </a:r>
            <a:br/>
            <a:r>
              <a:t>user |= 0b0001</a:t>
            </a:r>
            <a:b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C1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457200"/>
          </a:xfrm>
          <a:prstGeom prst="rect">
            <a:avLst/>
          </a:prstGeom>
          <a:solidFill>
            <a:srgbClr val="1292A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0C1626"/>
                </a:solidFill>
              </a:defRPr>
            </a:pPr>
            <a:r>
              <a:t>Debugging and Pitfalls</a:t>
            </a:r>
          </a:p>
        </p:txBody>
      </p:sp>
      <p:sp>
        <p:nvSpPr>
          <p:cNvPr id="4" name="TextBox 3"/>
          <p:cNvSpPr txBox="1"/>
          <p:nvPr/>
        </p:nvSpPr>
        <p:spPr>
          <a:xfrm>
            <a:off x="731520" y="914400"/>
            <a:ext cx="7680960" cy="5303520"/>
          </a:xfrm>
          <a:prstGeom prst="rect">
            <a:avLst/>
          </a:prstGeom>
          <a:noFill/>
        </p:spPr>
        <p:txBody>
          <a:bodyPr wrap="square">
            <a:spAutoFit/>
          </a:bodyPr>
          <a:lstStyle/>
          <a:p>
            <a:pPr>
              <a:defRPr sz="3000" b="1">
                <a:solidFill>
                  <a:srgbClr val="EDF3FC"/>
                </a:solidFill>
              </a:defRPr>
            </a:pPr>
            <a:r>
              <a:t>Watch for:</a:t>
            </a:r>
          </a:p>
          <a:p>
            <a:pPr lvl="1">
              <a:lnSpc>
                <a:spcPct val="110000"/>
              </a:lnSpc>
              <a:defRPr sz="2000">
                <a:solidFill>
                  <a:srgbClr val="B8C9E2"/>
                </a:solidFill>
              </a:defRPr>
            </a:pPr>
            <a:r>
              <a:t>Mixing up XOR and OR — XOR is exactly one.</a:t>
            </a:r>
          </a:p>
          <a:p>
            <a:pPr lvl="1">
              <a:lnSpc>
                <a:spcPct val="110000"/>
              </a:lnSpc>
              <a:defRPr sz="2000">
                <a:solidFill>
                  <a:srgbClr val="B8C9E2"/>
                </a:solidFill>
              </a:defRPr>
            </a:pPr>
            <a:r>
              <a:t>Forgetting a NOT, so outputs flip.</a:t>
            </a:r>
          </a:p>
          <a:p>
            <a:pPr lvl="1">
              <a:lnSpc>
                <a:spcPct val="110000"/>
              </a:lnSpc>
              <a:defRPr sz="2000">
                <a:solidFill>
                  <a:srgbClr val="B8C9E2"/>
                </a:solidFill>
              </a:defRPr>
            </a:pPr>
            <a:r>
              <a:t>Truth table typos — one row can change the gate type.</a:t>
            </a:r>
          </a:p>
          <a:p>
            <a:pPr lvl="1">
              <a:lnSpc>
                <a:spcPct val="110000"/>
              </a:lnSpc>
              <a:defRPr sz="2000">
                <a:solidFill>
                  <a:srgbClr val="B8C9E2"/>
                </a:solidFill>
              </a:defRPr>
            </a:pPr>
            <a:r>
              <a:t>Unclear signal names; label inputs and outputs.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C1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457200"/>
          </a:xfrm>
          <a:prstGeom prst="rect">
            <a:avLst/>
          </a:prstGeom>
          <a:solidFill>
            <a:srgbClr val="1292A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0C1626"/>
                </a:solidFill>
              </a:defRPr>
            </a:pPr>
            <a:r>
              <a:t>Reflection Assignment</a:t>
            </a:r>
          </a:p>
        </p:txBody>
      </p:sp>
      <p:sp>
        <p:nvSpPr>
          <p:cNvPr id="4" name="TextBox 3"/>
          <p:cNvSpPr txBox="1"/>
          <p:nvPr/>
        </p:nvSpPr>
        <p:spPr>
          <a:xfrm>
            <a:off x="731520" y="914400"/>
            <a:ext cx="7680960" cy="5303520"/>
          </a:xfrm>
          <a:prstGeom prst="rect">
            <a:avLst/>
          </a:prstGeom>
          <a:noFill/>
        </p:spPr>
        <p:txBody>
          <a:bodyPr wrap="square">
            <a:spAutoFit/>
          </a:bodyPr>
          <a:lstStyle/>
          <a:p>
            <a:pPr>
              <a:defRPr sz="3000" b="1">
                <a:solidFill>
                  <a:srgbClr val="EDF3FC"/>
                </a:solidFill>
              </a:defRPr>
            </a:pPr>
            <a:r>
              <a:t>Submit 200–300 words (see handout):</a:t>
            </a:r>
          </a:p>
          <a:p>
            <a:pPr lvl="1">
              <a:lnSpc>
                <a:spcPct val="110000"/>
              </a:lnSpc>
              <a:defRPr sz="2000">
                <a:solidFill>
                  <a:srgbClr val="B8C9E2"/>
                </a:solidFill>
              </a:defRPr>
            </a:pPr>
            <a:r>
              <a:t>Pick one scenario (e.g., 2FA, alarm, toggle, traffic light).</a:t>
            </a:r>
          </a:p>
          <a:p>
            <a:pPr lvl="1">
              <a:lnSpc>
                <a:spcPct val="110000"/>
              </a:lnSpc>
              <a:defRPr sz="2000">
                <a:solidFill>
                  <a:srgbClr val="B8C9E2"/>
                </a:solidFill>
              </a:defRPr>
            </a:pPr>
            <a:r>
              <a:t>Draw or describe gates; label inputs and output.</a:t>
            </a:r>
          </a:p>
          <a:p>
            <a:pPr lvl="1">
              <a:lnSpc>
                <a:spcPct val="110000"/>
              </a:lnSpc>
              <a:defRPr sz="2000">
                <a:solidFill>
                  <a:srgbClr val="B8C9E2"/>
                </a:solidFill>
              </a:defRPr>
            </a:pPr>
            <a:r>
              <a:t>Make a 4-row truth table and explain one row plainly.</a:t>
            </a:r>
          </a:p>
          <a:p>
            <a:pPr lvl="1">
              <a:lnSpc>
                <a:spcPct val="110000"/>
              </a:lnSpc>
              <a:defRPr sz="2000">
                <a:solidFill>
                  <a:srgbClr val="B8C9E2"/>
                </a:solidFill>
              </a:defRPr>
            </a:pPr>
            <a:r>
              <a:t>Say why correctness matters and share one learning/question.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