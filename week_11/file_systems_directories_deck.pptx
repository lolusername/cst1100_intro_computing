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welcome to Week 11. Today we are going to peel back the curtain on something that quietly supports every program we have written all semester: the file system. I want you to think about the dozens of notebooks, CSVs, and scripts we have created so far. They do not just float around in a magical cloud; they live on disk, and the operating system has to keep them organised, protected, and available on demand. Over the next hour and a half you will become the librarian of those bytes. We will learn how the OS decides where each file belongs, how it fetches information quickly, and how it juggles multiple requests at once without tripping over itself. By the end of class you will know the vocabulary to describe what is happening when you open a document, stream music, or extract data. As you listen, picture your own laptop or tablet. Imagine the chaos if filenames were random, if permissions were ignored, or if the disk chose requests at random. That chaos is what file systems prevent. Keep a notebook handy because you will capture little insights that feed directly into your writing log at the end of class.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you through where we are headed. First, we will surface your current file habits with a quick warm-up so we know what there is to untangle. Then we will spend several mini segments exploring the building blocks: why file systems matter, what layers they sit on, how directories and metadata work, and how naming conventions either help or hurt. That conceptual foundation will set us up for the hands-on lab where you will classify real filenames, time sequential versus random reads, and simulate disk scheduling algorithms. After the lab we will pause for a structured reflection, translating everything you discovered into action steps for your own devices. I promise we will keep the energy up: each slide is five focused minutes with room for questions and short pair discussions. If you have an aha moment or a question that feels off topic, jot it in the margin so we can revisit it when we move into the lab or the writing log. Ready? Let’s begin by grounding ourselves in why operating systems invest so much logic into file systems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phrase ‘file system’ sounds technical, but the idea is wonderfully human. Picture a well-run library. Books are sorted, labelled, and tracked. You walk in, look up a call number, and retrieve exactly what you need. A file system does the same for your code, photos, downloads, and homework. It provides consistent commands like open, read, and write so every program interacts with storage the same way. It translates the friendly path you see—maybe ‘Documents/Week11/lab.ipynb’—into specific physical locations on disk. It records metadata so your backup tool knows what changed, your permissions system knows who can edit, and your version history knows when something happened. Most importantly, it coordinates dozens of processes touching the same drive, lining them up so one person’s save does not corrupt another’s. Without that coordination data would vanish or become unusable. As we explore today, try to link each concept back to a moment when a file saved correctly, synced seamlessly, or opened instantly; those little successes are the file system working on your behalf.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how file systems do their job we need to picture the layers they operate on. Start at the bottom with the physical layer. If you have a hard disk drive, imagine spinning platters with tracks and sectors, plus a tiny arm that has to move and wait for the right spot to go by. If you have a solid-state drive, imagine grids of flash cells and a controller that spreads writes around to keep them healthy. Above that sits the logical file system. This is where directories, inodes, and allocation tables live. It is where the OS tracks which blocks belong to which file and where journals record pending changes so nothing is lost during a crash. Then we have the virtual file system, the translator that lets Windows, macOS, and Linux support multiple on-disk formats through one consistent interface. Finally, at the top, the user layer presents everything as folders, icons, and drag-and-drop actions. When you click a file, all four layers move in concert. Today’s lab will touch the top two layers—user and logical—but keep the physical realities in mind, because they influence everything from speed to wear.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Directories are the skeleton of the logical layer. Think of them as a tree with one root. Every folder has exactly one parent except that root, and files hang off branches like leaves. That structure is powerful because it lets you specify an absolute path from the root or a relative path from wherever you are standing. On macOS or Linux you might type ‘cd ../Downloads’ to jump to a sibling folder; on Windows you might navigate with Explorer breadcrumbs. Case sensitivity matters: on many Linux systems ‘Report.docx’ and ‘report.docx’ are different files, while on default macOS they are treated as the same. Also remember that not everything you see is exactly what it seems—shortcuts, aliases, and symbolic links point elsewhere like signposts. Hidden files, often starting with a dot, store preferences or settings. When we sketch directory trees later, notice how quickly you can represent your own laptop. The goal is to recognise where clutter builds and where structure saves you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naming. A filename should be a gift to your future self. Instead of a jumble like ‘FinalVersion2ReallyFinal.docx’, try a pattern that sorts automatically and tells the story at a glance. Dates at the front—‘2024-04-15_project-outline.docx’—mean the newest files line up in order. Snake case or hyphenated names prevent scripts from tripping over spaces. When you need version numbers, use something like ‘v01’, ‘v02’, or a short phrase that captures the milestone. Schedule small cleanups: maybe the first Friday of each month you sweep your Downloads folder into an Archive folder. Little habits like these lower cognitive load and reduce the chance of editing the wrong attachment or emailing a draft to the wrong person. Keep those ideas in mind; you will jot one naming habit you plan to adopt in the writing log later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Filenames only tell part of the story, so we lean on metadata—the data about our data. Every file holds timestamps for when it was created, modified, and last accessed. Those timestamps help backup software and version control figure out what changed. Permissions state who can read, write, or execute the file, which is why you cannot accidentally edit a system binary. Owners and groups define responsibility. Many formats include magic numbers, little signature bytes at the start—‘%PDF’ for PDFs, ‘ELF’ for Linux executables—that let the OS verify the true type even if the extension lies. Some systems add extended attributes: macOS might mark a file as downloaded from the internet so it shows a warning, Windows can attach alternate data streams. Takeaway: when something behaves oddly, peek at its metadata. It often explains whether the file is new, who touched it last, or whether it is secretly a different type.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extensions are the signals we usually see first, let’s make sure we can interpret them. Text files like .txt and .md are friendly and open in any editor. Data files such as .csv and .json store structured information. Images include .jpg, .png, and .gif. Audio might be .flac or .mp3. Executables and installers—.exe, .msi, .pkg, .sh—deserve caution. Scripts such as .py and .js are plain text but can execute logic. Some files, like .dll or .so libraries, should never be double-clicked; they are meant to be loaded by other programs. Watch for double extensions such as ‘invoice.pdf.exe’; they are often malicious. In the lab you will use a prebuilt function to categorise our sample filenames and flag suspicious ones. Notice how quickly pattern recognition develops when you look at a list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Professionals who triage files often follow a simple four-step process, and you can adopt it too. Step one is inventory: gather filenames, note their extensions, and record where they live. Step two is cross-check: compare each extension to a trusted list or to your own experience. Step three is validate: peek inside safely using tools like the Unix ‘file’ command, a hex viewer, or simply the OS preview to confirm it matches expectations. Step four is decide: keep the file, quarantine it, or delete it based on what you found. During Part 1 of the lab you will follow this script programmatically: count categories, look for red flags, and think through how you would respond. The more you practise now, the quicker you will be at spotting the weird attachment or rogue download later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Sequential access means reading data in order, like pressing play on a cassette tape or scrolling through a long article. It shines when you want everything: processing log files, streaming audio and video, performing backups. Because you keep asking for the next chunk, the operating system can prefetch data into memory so it is ready before you need it. That is why sequential reads feel smooth, even on older hardware. The downside is obvious when you only need a tiny portion—the system still trudges through everything before it. As you watch the timing demo later, imagine the OS quietly grabbing chunk after chunk while your code loops through the file. That prefetch savings is what we will measure.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or random, access is the opposite mindset: you jump straight to the bite you want, like flipping to page 213 of a textbook or skipping to your favourite song. Databases depend on this—they maintain indexes so they can pinpoint records instantly. Operating systems use it when they page memory in and out. Solid-state drives make random access incredibly fast because there is no mechanical movement, while hard disks still pay a penalty for seeking and waiting for the right sector to spin under the head. Random access can thrash caches if the pattern is unpredictable, so systems often balance it with sequential prefetching or caching strategies. As you run the lab, pay attention to how your hardware handles those jumps.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have definitions, let’s compare. Sequential access wins when you plan to consume most of the file—think nightly backups, media streaming, or data pipeline jobs. It also tends to be friendlier to spinning disks because the head glides smoothly. Direct access wins when you need specific snippets: looking up a single record in a database, loading a thumbnail, fetching one setting from a configuration file. Hybrid workloads mix both, which is why software sometimes keeps two versions of data: a sequential log for long reads and an indexed structure for random lookups. As you discuss examples with your partner later, connect each scenario to the goals on screen: efficiency, latency, and predictability.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Caching is the secret sauce that makes both strategies feel snappy. The operating system maintains a page cache in RAM so recently-read blocks are ready for the next request. Write-back buffers collect changes and flush them to disk when it is efficient, which is why you should safely eject drives instead of yanking them out. Prefetch algorithms guess what you will ask for next, especially during sequential reads. Even SSDs have their own caches to smooth out performance spikes. When something is unexpectedly slow, it is often because you missed the cache and had to hit the physical device. When it is fast, a cache probably saved the day. In the lab, if sequential reads are faster, caching likely helped; if random reads are competitive, your SSD is flexing its low-latency muscles.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cannot talk about file systems without nodding to the hardware. Hard disk drives have spinning platters, read/write heads, and a constant dance of seeking and waiting for the right sector to rotate underneath. Seek time and rotational latency dominate performance. Solid-state drives, in contrast, have no moving parts. They store electrons in flash cells and rely on controllers to distribute writes evenly so the cells wear slowly. Hybrid drives blend the two. SMART statistics—Self-Monitoring Analysis and Reporting Technology—track health indicators like reallocated sector counts, giving you a heads-up before failure. Knowing which device you have helps you interpret lab results and choose habits that extend lifespan.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this leads to scheduling. When multiple programs ask for disk access, the operating system needs a policy to decide who goes first. Throughput measures how many requests get finished per second. Latency focuses on how long each request waits. Total head movement approximates mechanical effort and wear. Variance or predictability tells you whether performance is steady or jittery. Different environments value different metrics. A photographer importing photos might care about throughput. A gamer cares about latency. A database admin worries about fairness and predictability. Keep those personas in mind as we explore specific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up is FCFS: First-Come, First-Served. It is exactly what it sounds like. Requests enter a queue and are handled in arrival order. The benefit is fairness—no one jumps the line. The drawback is that the disk head may zigzag wildly, travelling long distances between requests. On SSDs, that penalty is smaller; on HDDs it can be huge. FCFS remains useful when the queue is short or when fairness outweighs efficiency. As we simulate it, picture a customer service line: everyone waits their turn even if the next person lives closer to the clerk.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is SSTF: Shortest Seek Time First. The disk always services the request closest to the current head position. Efficiency skyrockets because you minimise movement, but there is a catch: faraway requests can starve if new nearby requests keep arriving. Real schedulers mitigate that with aging or priority boosts. Think of SSTF like a delivery driver who always drops off the nearest package next. It saves time but could ignore someone at the edge of town if new downtown deliveries keep appearing. We will watch this play out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elevator family—SCAN, LOOK, and C-SCAN—balances both worlds. Imagine the disk head as an elevator. It moves in one direction, serving every floor that requested service, then reverses. SCAN goes all the way to the end before coming back. LOOK turns around at the furthest pending request. C-SCAN wraps around to the beginning and continues in the same direction, giving each region an equal shot. These strategies prevent starvation and smooth out wait times, especially on busy systems. When we implement them, notice how the order list marches steadily rather than zigzagging unpredictably.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the algorithms to a real queue. We start at track 53 with requests for 98, 183, 37 and so on. FCFS will follow the exact order, resulting in a lot of movement. SSTF will hop to the nearest track each time, dramatically shrinking travel but letting tracks like 14 wait longer. SCAN will head upward, servicing higher-numbered tracks, then sweep back down, so movement sits somewhere in the middle and wait times become more balanced. As we read the printed numbers later, I will ask each group to explain which pattern feels most humane and which would make their workflow fastest.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design a scheduling policy for a real system, you do not just pick a name from a hat. You profile workloads: how many requests arrive per second, how many are reads versus writes, and whether they tend to be sequential or random. You prioritise metrics based on user needs. You might choose a hybrid algorithm that combines SSTF with fairness boosts or deadlines. And you monitor continuously. If the workload shifts—maybe more video editing, maybe more database traffic—you adjust the policy. I encourage you to think about your own devices: if you could collect stats on your laptop, what patterns would you expect to see?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into the lab, here is what is coming next. You will work in pairs, with one person acting as the driver at the keyboard and the other as the navigator reading instructions and asking questions. You will run the prewritten cells, observe the output, and talk through what it means. Part 1 is the extension detective activity, Part 2 is the timing comparison, and Part 3 is the scheduling snapshot. The teacher notebook mirrors the student version, so do not worry if you need a hint—we can peek together. Plan on about fifteen minutes per part. If you finish early, help a neighbour or brainstorm how the concepts apply to your own folders. Questions before we switch to the notebook?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writing log today lives at the end of class, and these prompts preview what you will reflect on: one habit you plan to adopt, one insight from the lab that surprised you, one sequential versus direct example drawn from your life, and one question you still have. As you work through the lab, jot little notes next to these items so the final reflection flows easily. The goal is not a diary entry but a thoughtful bridge from concepts to personal action. I will collect them after the independent homework lab so I can see which topics to revisit or extend next week.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transition into the lab portion, remember the big idea: disks and file systems remember everything we ask of them. Our job is to give clear, intentional instructions. In the lab you will practise the habits that make that possible. Pair up now, open the student notebook, and start with the setup cell. Stay curious, talk to your partner, and flag me whenever something feels confusing. Let’s get our hands on the keyboard and see these ideas in 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D3E"/>
        </a:solidFill>
        <a:effectLst/>
      </p:bgPr>
    </p:bg>
    <p:spTree>
      <p:nvGrpSpPr>
        <p:cNvPr id="1" name=""/>
        <p:cNvGrpSpPr/>
        <p:nvPr/>
      </p:nvGrpSpPr>
      <p:grpSpPr/>
      <p:sp>
        <p:nvSpPr>
          <p:cNvPr id="2" name="Rectangle 1"/>
          <p:cNvSpPr/>
          <p:nvPr/>
        </p:nvSpPr>
        <p:spPr>
          <a:xfrm>
            <a:off x="640080" y="1005840"/>
            <a:ext cx="320040" cy="438912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645920"/>
            <a:ext cx="7498079" cy="1554480"/>
          </a:xfrm>
          <a:prstGeom prst="rect">
            <a:avLst/>
          </a:prstGeom>
          <a:noFill/>
        </p:spPr>
        <p:txBody>
          <a:bodyPr wrap="none">
            <a:spAutoFit/>
          </a:bodyPr>
          <a:lstStyle/>
          <a:p>
            <a:pPr>
              <a:defRPr sz="4600" b="1">
                <a:solidFill>
                  <a:srgbClr val="FFFFFF"/>
                </a:solidFill>
              </a:defRPr>
            </a:pPr>
            <a:r>
              <a:t>Week 11: File Systems, Directories, and Disk Scheduling</a:t>
            </a:r>
          </a:p>
        </p:txBody>
      </p:sp>
      <p:sp>
        <p:nvSpPr>
          <p:cNvPr id="4" name="TextBox 3"/>
          <p:cNvSpPr txBox="1"/>
          <p:nvPr/>
        </p:nvSpPr>
        <p:spPr>
          <a:xfrm>
            <a:off x="1188720" y="2926080"/>
            <a:ext cx="7498079" cy="822960"/>
          </a:xfrm>
          <a:prstGeom prst="rect">
            <a:avLst/>
          </a:prstGeom>
          <a:noFill/>
        </p:spPr>
        <p:txBody>
          <a:bodyPr wrap="none">
            <a:spAutoFit/>
          </a:bodyPr>
          <a:lstStyle/>
          <a:p>
            <a:pPr>
              <a:defRPr sz="2400">
                <a:solidFill>
                  <a:srgbClr val="F5A942"/>
                </a:solidFill>
              </a:defRPr>
            </a:pPr>
            <a:r>
              <a:t>CST1100 Intro to Computing</a:t>
            </a:r>
          </a:p>
        </p:txBody>
      </p:sp>
      <p:sp>
        <p:nvSpPr>
          <p:cNvPr id="5" name="TextBox 4"/>
          <p:cNvSpPr txBox="1"/>
          <p:nvPr/>
        </p:nvSpPr>
        <p:spPr>
          <a:xfrm>
            <a:off x="1188720" y="3840480"/>
            <a:ext cx="7498079" cy="1828800"/>
          </a:xfrm>
          <a:prstGeom prst="rect">
            <a:avLst/>
          </a:prstGeom>
          <a:noFill/>
        </p:spPr>
        <p:txBody>
          <a:bodyPr wrap="none">
            <a:spAutoFit/>
          </a:bodyPr>
          <a:lstStyle/>
          <a:p>
            <a:pPr>
              <a:defRPr sz="2200" b="1">
                <a:solidFill>
                  <a:srgbClr val="FFFFFF"/>
                </a:solidFill>
              </a:defRPr>
            </a:pPr>
            <a:r>
              <a:t>Session Objectives</a:t>
            </a:r>
          </a:p>
          <a:p>
            <a:pPr>
              <a:defRPr sz="1800">
                <a:solidFill>
                  <a:srgbClr val="EAEFF4"/>
                </a:solidFill>
              </a:defRPr>
            </a:pPr>
            <a:r>
              <a:t>Decode how operating systems organize storage layers</a:t>
            </a:r>
          </a:p>
          <a:p>
            <a:pPr>
              <a:defRPr sz="1800">
                <a:solidFill>
                  <a:srgbClr val="EAEFF4"/>
                </a:solidFill>
              </a:defRPr>
            </a:pPr>
            <a:r>
              <a:t>Differentiate sequential and direct access in practice</a:t>
            </a:r>
          </a:p>
          <a:p>
            <a:pPr>
              <a:defRPr sz="1800">
                <a:solidFill>
                  <a:srgbClr val="EAEFF4"/>
                </a:solidFill>
              </a:defRPr>
            </a:pPr>
            <a:r>
              <a:t>Model disk scheduling trade-offs for fairness and speed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Today's Flow</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Poll: how do we currently keep files tidy?</a:t>
            </a:r>
          </a:p>
          <a:p>
            <a:pPr>
              <a:defRPr sz="2400">
                <a:solidFill>
                  <a:srgbClr val="30394A"/>
                </a:solidFill>
              </a:defRPr>
            </a:pPr>
            <a:r>
              <a:t>Concept tour: volumes, directories, metadata, permissions</a:t>
            </a:r>
          </a:p>
          <a:p>
            <a:pPr>
              <a:defRPr sz="2400">
                <a:solidFill>
                  <a:srgbClr val="30394A"/>
                </a:solidFill>
              </a:defRPr>
            </a:pPr>
            <a:r>
              <a:t>Hands-on: extension detective + I/O timing lab</a:t>
            </a:r>
          </a:p>
          <a:p>
            <a:pPr>
              <a:defRPr sz="2400">
                <a:solidFill>
                  <a:srgbClr val="30394A"/>
                </a:solidFill>
              </a:defRPr>
            </a:pPr>
            <a:r>
              <a:t>Simulation: FCFS, SSTF, SCAN/C-SCAN head movement</a:t>
            </a:r>
          </a:p>
          <a:p>
            <a:pPr>
              <a:defRPr sz="2400">
                <a:solidFill>
                  <a:srgbClr val="30394A"/>
                </a:solidFill>
              </a:defRPr>
            </a:pPr>
            <a:r>
              <a:t>Wrap: exit writing log + real-world transfer scenarios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A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Why File Systems Matter</a:t>
            </a:r>
          </a:p>
        </p:txBody>
      </p:sp>
      <p:sp>
        <p:nvSpPr>
          <p:cNvPr id="4" name="TextBox 3"/>
          <p:cNvSpPr txBox="1"/>
          <p:nvPr/>
        </p:nvSpPr>
        <p:spPr>
          <a:xfrm>
            <a:off x="548640" y="1280160"/>
            <a:ext cx="7680960" cy="640080"/>
          </a:xfrm>
          <a:prstGeom prst="rect">
            <a:avLst/>
          </a:prstGeom>
          <a:noFill/>
        </p:spPr>
        <p:txBody>
          <a:bodyPr wrap="none">
            <a:spAutoFit/>
          </a:bodyPr>
          <a:lstStyle/>
          <a:p>
            <a:pPr>
              <a:defRPr sz="2000">
                <a:solidFill>
                  <a:srgbClr val="566373"/>
                </a:solidFill>
              </a:defRPr>
            </a:pPr>
            <a:r>
              <a:t>The OS becomes the librarian of every byte</a:t>
            </a:r>
          </a:p>
        </p:txBody>
      </p:sp>
      <p:sp>
        <p:nvSpPr>
          <p:cNvPr id="5" name="TextBox 4"/>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Provide consistent APIs (`open`, `read`, `write`) for every program</a:t>
            </a:r>
          </a:p>
          <a:p>
            <a:pPr>
              <a:defRPr sz="2400">
                <a:solidFill>
                  <a:srgbClr val="30394A"/>
                </a:solidFill>
              </a:defRPr>
            </a:pPr>
            <a:r>
              <a:t>Translate human-friendly paths into block addresses on storage media</a:t>
            </a:r>
          </a:p>
          <a:p>
            <a:pPr>
              <a:defRPr sz="2400">
                <a:solidFill>
                  <a:srgbClr val="30394A"/>
                </a:solidFill>
              </a:defRPr>
            </a:pPr>
            <a:r>
              <a:t>Track metadata so backups, permissions, and audits work correctly</a:t>
            </a:r>
          </a:p>
          <a:p>
            <a:pPr>
              <a:defRPr sz="2400">
                <a:solidFill>
                  <a:srgbClr val="30394A"/>
                </a:solidFill>
              </a:defRPr>
            </a:pPr>
            <a:r>
              <a:t>Coordinate concurrent access to prevent corruption or lost updates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TextBox 1"/>
          <p:cNvSpPr txBox="1"/>
          <p:nvPr/>
        </p:nvSpPr>
        <p:spPr>
          <a:xfrm>
            <a:off x="548640" y="548640"/>
            <a:ext cx="7863840" cy="822960"/>
          </a:xfrm>
          <a:prstGeom prst="rect">
            <a:avLst/>
          </a:prstGeom>
          <a:noFill/>
        </p:spPr>
        <p:txBody>
          <a:bodyPr wrap="none">
            <a:spAutoFit/>
          </a:bodyPr>
          <a:lstStyle/>
          <a:p>
            <a:pPr>
              <a:defRPr sz="3200" b="1">
                <a:solidFill>
                  <a:srgbClr val="30394A"/>
                </a:solidFill>
              </a:defRPr>
            </a:pPr>
            <a:r>
              <a:t>Four Layers to Watch</a:t>
            </a:r>
          </a:p>
        </p:txBody>
      </p:sp>
      <p:sp>
        <p:nvSpPr>
          <p:cNvPr id="3" name="TextBox 2"/>
          <p:cNvSpPr txBox="1"/>
          <p:nvPr/>
        </p:nvSpPr>
        <p:spPr>
          <a:xfrm>
            <a:off x="548640" y="1371600"/>
            <a:ext cx="3931920" cy="4937760"/>
          </a:xfrm>
          <a:prstGeom prst="rect">
            <a:avLst/>
          </a:prstGeom>
          <a:noFill/>
        </p:spPr>
        <p:txBody>
          <a:bodyPr wrap="none">
            <a:spAutoFit/>
          </a:bodyPr>
          <a:lstStyle/>
          <a:p>
            <a:pPr>
              <a:defRPr sz="2400" b="1">
                <a:solidFill>
                  <a:srgbClr val="298E8F"/>
                </a:solidFill>
              </a:defRPr>
            </a:pPr>
            <a:r>
              <a:t>Physical Layer</a:t>
            </a:r>
          </a:p>
          <a:p>
            <a:pPr>
              <a:defRPr sz="2200">
                <a:solidFill>
                  <a:srgbClr val="30394A"/>
                </a:solidFill>
              </a:defRPr>
            </a:pPr>
            <a:r>
              <a:t>HDD: platters, tracks, sectors, seek and rotational delay</a:t>
            </a:r>
          </a:p>
          <a:p>
            <a:pPr>
              <a:defRPr sz="2200">
                <a:solidFill>
                  <a:srgbClr val="30394A"/>
                </a:solidFill>
              </a:defRPr>
            </a:pPr>
            <a:r>
              <a:t>SSD: flash cells, wear leveling, controller firmware</a:t>
            </a:r>
          </a:p>
          <a:p>
            <a:pPr>
              <a:defRPr sz="2200">
                <a:solidFill>
                  <a:srgbClr val="30394A"/>
                </a:solidFill>
              </a:defRPr>
            </a:pPr>
            <a:r>
              <a:t>Block size influences throughput and fragmentation</a:t>
            </a:r>
          </a:p>
        </p:txBody>
      </p:sp>
      <p:sp>
        <p:nvSpPr>
          <p:cNvPr id="4" name="TextBox 3"/>
          <p:cNvSpPr txBox="1"/>
          <p:nvPr/>
        </p:nvSpPr>
        <p:spPr>
          <a:xfrm>
            <a:off x="4663440" y="1371600"/>
            <a:ext cx="3931920" cy="4937760"/>
          </a:xfrm>
          <a:prstGeom prst="rect">
            <a:avLst/>
          </a:prstGeom>
          <a:noFill/>
        </p:spPr>
        <p:txBody>
          <a:bodyPr wrap="none">
            <a:spAutoFit/>
          </a:bodyPr>
          <a:lstStyle/>
          <a:p>
            <a:pPr>
              <a:defRPr sz="2400" b="1">
                <a:solidFill>
                  <a:srgbClr val="F5A942"/>
                </a:solidFill>
              </a:defRPr>
            </a:pPr>
            <a:r>
              <a:t>Logical &amp; Virtual Layers</a:t>
            </a:r>
          </a:p>
          <a:p>
            <a:pPr>
              <a:defRPr sz="2200">
                <a:solidFill>
                  <a:srgbClr val="30394A"/>
                </a:solidFill>
              </a:defRPr>
            </a:pPr>
            <a:r>
              <a:t>Logical FS: directories, allocation tables, inodes/B+ trees</a:t>
            </a:r>
          </a:p>
          <a:p>
            <a:pPr>
              <a:defRPr sz="2200">
                <a:solidFill>
                  <a:srgbClr val="30394A"/>
                </a:solidFill>
              </a:defRPr>
            </a:pPr>
            <a:r>
              <a:t>Virtual FS: abstraction bridging NTFS, ext4, APFS, FAT32</a:t>
            </a:r>
          </a:p>
          <a:p>
            <a:pPr>
              <a:defRPr sz="2200">
                <a:solidFill>
                  <a:srgbClr val="30394A"/>
                </a:solidFill>
              </a:defRPr>
            </a:pPr>
            <a:r>
              <a:t>User Layer: shell, GUI, drag-drop actions, default apps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Directory Structures in Practice</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Rooted tree ensures one parent (except root); shortcuts are separate objects</a:t>
            </a:r>
          </a:p>
          <a:p>
            <a:pPr>
              <a:defRPr sz="2400">
                <a:solidFill>
                  <a:srgbClr val="30394A"/>
                </a:solidFill>
              </a:defRPr>
            </a:pPr>
            <a:r>
              <a:t>Absolute vs. relative paths change portability and automation choices</a:t>
            </a:r>
          </a:p>
          <a:p>
            <a:pPr>
              <a:defRPr sz="2400">
                <a:solidFill>
                  <a:srgbClr val="30394A"/>
                </a:solidFill>
              </a:defRPr>
            </a:pPr>
            <a:r>
              <a:t>Symbolic links / aliases create alternate entry points to resources</a:t>
            </a:r>
          </a:p>
          <a:p>
            <a:pPr>
              <a:defRPr sz="2400">
                <a:solidFill>
                  <a:srgbClr val="30394A"/>
                </a:solidFill>
              </a:defRPr>
            </a:pPr>
            <a:r>
              <a:t>Case sensitivity differs: macOS APFS (default insensitive) vs. Linux ext4 (sensitive)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A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Naming Conventions &amp; Hygiene</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Avoid spaces for scripts; prefer `snake_case` or `kebab-case`</a:t>
            </a:r>
          </a:p>
          <a:p>
            <a:pPr>
              <a:defRPr sz="2400">
                <a:solidFill>
                  <a:srgbClr val="30394A"/>
                </a:solidFill>
              </a:defRPr>
            </a:pPr>
            <a:r>
              <a:t>Prefix dates `YYYY-MM-DD` to sort chronologically out-of-the-box</a:t>
            </a:r>
          </a:p>
          <a:p>
            <a:pPr>
              <a:defRPr sz="2400">
                <a:solidFill>
                  <a:srgbClr val="30394A"/>
                </a:solidFill>
              </a:defRPr>
            </a:pPr>
            <a:r>
              <a:t>Store versions with semantic suffixes (`report_v2_final.docx` → `report_2024-04-05_v2.docx`)</a:t>
            </a:r>
          </a:p>
          <a:p>
            <a:pPr>
              <a:defRPr sz="2400">
                <a:solidFill>
                  <a:srgbClr val="30394A"/>
                </a:solidFill>
              </a:defRPr>
            </a:pPr>
            <a:r>
              <a:t>Trash rarely empties itself—schedule cleanups to reclaim space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Metadata: Beyond the Filename</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Size + timestamps (created/modified/accessed) support sync and backups</a:t>
            </a:r>
          </a:p>
          <a:p>
            <a:pPr>
              <a:defRPr sz="2400">
                <a:solidFill>
                  <a:srgbClr val="30394A"/>
                </a:solidFill>
              </a:defRPr>
            </a:pPr>
            <a:r>
              <a:t>Owner, group, permission bits (r/w/x) enforce security boundaries</a:t>
            </a:r>
          </a:p>
          <a:p>
            <a:pPr>
              <a:defRPr sz="2400">
                <a:solidFill>
                  <a:srgbClr val="30394A"/>
                </a:solidFill>
              </a:defRPr>
            </a:pPr>
            <a:r>
              <a:t>File signatures (“magic numbers”) verify true type despite extension</a:t>
            </a:r>
          </a:p>
          <a:p>
            <a:pPr>
              <a:defRPr sz="2400">
                <a:solidFill>
                  <a:srgbClr val="30394A"/>
                </a:solidFill>
              </a:defRPr>
            </a:pPr>
            <a:r>
              <a:t>Extended attributes: tags, quarantine flags, alternate data streams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TextBox 1"/>
          <p:cNvSpPr txBox="1"/>
          <p:nvPr/>
        </p:nvSpPr>
        <p:spPr>
          <a:xfrm>
            <a:off x="548640" y="548640"/>
            <a:ext cx="7863840" cy="822960"/>
          </a:xfrm>
          <a:prstGeom prst="rect">
            <a:avLst/>
          </a:prstGeom>
          <a:noFill/>
        </p:spPr>
        <p:txBody>
          <a:bodyPr wrap="none">
            <a:spAutoFit/>
          </a:bodyPr>
          <a:lstStyle/>
          <a:p>
            <a:pPr>
              <a:defRPr sz="3200" b="1">
                <a:solidFill>
                  <a:srgbClr val="30394A"/>
                </a:solidFill>
              </a:defRPr>
            </a:pPr>
            <a:r>
              <a:t>Extensions and Associations</a:t>
            </a:r>
          </a:p>
        </p:txBody>
      </p:sp>
      <p:sp>
        <p:nvSpPr>
          <p:cNvPr id="3" name="TextBox 2"/>
          <p:cNvSpPr txBox="1"/>
          <p:nvPr/>
        </p:nvSpPr>
        <p:spPr>
          <a:xfrm>
            <a:off x="548640" y="1371600"/>
            <a:ext cx="3931920" cy="4937760"/>
          </a:xfrm>
          <a:prstGeom prst="rect">
            <a:avLst/>
          </a:prstGeom>
          <a:noFill/>
        </p:spPr>
        <p:txBody>
          <a:bodyPr wrap="none">
            <a:spAutoFit/>
          </a:bodyPr>
          <a:lstStyle/>
          <a:p>
            <a:pPr>
              <a:defRPr sz="2400" b="1">
                <a:solidFill>
                  <a:srgbClr val="298E8F"/>
                </a:solidFill>
              </a:defRPr>
            </a:pPr>
            <a:r>
              <a:t>Common Extensions</a:t>
            </a:r>
          </a:p>
          <a:p>
            <a:pPr>
              <a:defRPr sz="2200">
                <a:solidFill>
                  <a:srgbClr val="30394A"/>
                </a:solidFill>
              </a:defRPr>
            </a:pPr>
            <a:r>
              <a:t>.txt, .md → plaintext notes</a:t>
            </a:r>
          </a:p>
          <a:p>
            <a:pPr>
              <a:defRPr sz="2200">
                <a:solidFill>
                  <a:srgbClr val="30394A"/>
                </a:solidFill>
              </a:defRPr>
            </a:pPr>
            <a:r>
              <a:t>.csv, .json → structured data</a:t>
            </a:r>
          </a:p>
          <a:p>
            <a:pPr>
              <a:defRPr sz="2200">
                <a:solidFill>
                  <a:srgbClr val="30394A"/>
                </a:solidFill>
              </a:defRPr>
            </a:pPr>
            <a:r>
              <a:t>.docx, .pptx → Office documents</a:t>
            </a:r>
          </a:p>
          <a:p>
            <a:pPr>
              <a:defRPr sz="2200">
                <a:solidFill>
                  <a:srgbClr val="30394A"/>
                </a:solidFill>
              </a:defRPr>
            </a:pPr>
            <a:r>
              <a:t>.py, .js, .sh → scripts</a:t>
            </a:r>
          </a:p>
          <a:p>
            <a:pPr>
              <a:defRPr sz="2200">
                <a:solidFill>
                  <a:srgbClr val="30394A"/>
                </a:solidFill>
              </a:defRPr>
            </a:pPr>
            <a:r>
              <a:t>.jpg, .png, .gif → media assets</a:t>
            </a:r>
          </a:p>
        </p:txBody>
      </p:sp>
      <p:sp>
        <p:nvSpPr>
          <p:cNvPr id="4" name="TextBox 3"/>
          <p:cNvSpPr txBox="1"/>
          <p:nvPr/>
        </p:nvSpPr>
        <p:spPr>
          <a:xfrm>
            <a:off x="4663440" y="1371600"/>
            <a:ext cx="3931920" cy="4937760"/>
          </a:xfrm>
          <a:prstGeom prst="rect">
            <a:avLst/>
          </a:prstGeom>
          <a:noFill/>
        </p:spPr>
        <p:txBody>
          <a:bodyPr wrap="none">
            <a:spAutoFit/>
          </a:bodyPr>
          <a:lstStyle/>
          <a:p>
            <a:pPr>
              <a:defRPr sz="2400" b="1">
                <a:solidFill>
                  <a:srgbClr val="F5A942"/>
                </a:solidFill>
              </a:defRPr>
            </a:pPr>
            <a:r>
              <a:t>Security Watchlist</a:t>
            </a:r>
          </a:p>
          <a:p>
            <a:pPr>
              <a:defRPr sz="2200">
                <a:solidFill>
                  <a:srgbClr val="30394A"/>
                </a:solidFill>
              </a:defRPr>
            </a:pPr>
            <a:r>
              <a:t>.exe, .msi, .pkg → installers/executables</a:t>
            </a:r>
          </a:p>
          <a:p>
            <a:pPr>
              <a:defRPr sz="2200">
                <a:solidFill>
                  <a:srgbClr val="30394A"/>
                </a:solidFill>
              </a:defRPr>
            </a:pPr>
            <a:r>
              <a:t>.bat, .cmd, .ps1 → automation scripts</a:t>
            </a:r>
          </a:p>
          <a:p>
            <a:pPr>
              <a:defRPr sz="2200">
                <a:solidFill>
                  <a:srgbClr val="30394A"/>
                </a:solidFill>
              </a:defRPr>
            </a:pPr>
            <a:r>
              <a:t>.dll, .so → shared libraries (should not run alone)</a:t>
            </a:r>
          </a:p>
          <a:p>
            <a:pPr>
              <a:defRPr sz="2200">
                <a:solidFill>
                  <a:srgbClr val="30394A"/>
                </a:solidFill>
              </a:defRPr>
            </a:pPr>
            <a:r>
              <a:t>Double extensions: `invoice.pdf.exe` camouflages malware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A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Extension Detective Process</a:t>
            </a:r>
          </a:p>
        </p:txBody>
      </p:sp>
      <p:sp>
        <p:nvSpPr>
          <p:cNvPr id="4" name="TextBox 3"/>
          <p:cNvSpPr txBox="1"/>
          <p:nvPr/>
        </p:nvSpPr>
        <p:spPr>
          <a:xfrm>
            <a:off x="548640" y="1280160"/>
            <a:ext cx="7680960" cy="640080"/>
          </a:xfrm>
          <a:prstGeom prst="rect">
            <a:avLst/>
          </a:prstGeom>
          <a:noFill/>
        </p:spPr>
        <p:txBody>
          <a:bodyPr wrap="none">
            <a:spAutoFit/>
          </a:bodyPr>
          <a:lstStyle/>
          <a:p>
            <a:pPr>
              <a:defRPr sz="2000">
                <a:solidFill>
                  <a:srgbClr val="566373"/>
                </a:solidFill>
              </a:defRPr>
            </a:pPr>
            <a:r>
              <a:t>Lab Part 1 follows this workflow</a:t>
            </a:r>
          </a:p>
        </p:txBody>
      </p:sp>
      <p:sp>
        <p:nvSpPr>
          <p:cNvPr id="5" name="TextBox 4"/>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1️⃣ Inventory: list files, split suffixes, note duplicates</a:t>
            </a:r>
          </a:p>
          <a:p>
            <a:pPr>
              <a:defRPr sz="2400">
                <a:solidFill>
                  <a:srgbClr val="30394A"/>
                </a:solidFill>
              </a:defRPr>
            </a:pPr>
            <a:r>
              <a:t>2️⃣ Cross-check: compare to trusted extension catalog or `mimetypes`</a:t>
            </a:r>
          </a:p>
          <a:p>
            <a:pPr>
              <a:defRPr sz="2400">
                <a:solidFill>
                  <a:srgbClr val="30394A"/>
                </a:solidFill>
              </a:defRPr>
            </a:pPr>
            <a:r>
              <a:t>3️⃣ Validate: inspect magic number bytes with `file` or Python `pathlib`</a:t>
            </a:r>
          </a:p>
          <a:p>
            <a:pPr>
              <a:defRPr sz="2400">
                <a:solidFill>
                  <a:srgbClr val="30394A"/>
                </a:solidFill>
              </a:defRPr>
            </a:pPr>
            <a:r>
              <a:t>4️⃣ Decide: quarantine suspicious files before opening or sharing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Sequential Access Essentials</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Stream bytes in order—tape drives, log files, media playback excel here</a:t>
            </a:r>
          </a:p>
          <a:p>
            <a:pPr>
              <a:defRPr sz="2400">
                <a:solidFill>
                  <a:srgbClr val="30394A"/>
                </a:solidFill>
              </a:defRPr>
            </a:pPr>
            <a:r>
              <a:t>OS can read ahead (prefetch) to fill buffers and smooth throughput</a:t>
            </a:r>
          </a:p>
          <a:p>
            <a:pPr>
              <a:defRPr sz="2400">
                <a:solidFill>
                  <a:srgbClr val="30394A"/>
                </a:solidFill>
              </a:defRPr>
            </a:pPr>
            <a:r>
              <a:t>Best when you need most of the file (e.g., nightly backups, analytics scans)</a:t>
            </a:r>
          </a:p>
          <a:p>
            <a:pPr>
              <a:defRPr sz="2400">
                <a:solidFill>
                  <a:srgbClr val="30394A"/>
                </a:solidFill>
              </a:defRPr>
            </a:pPr>
            <a:r>
              <a:t>Downside: slow jump-to-middle operations; rewinding is expensive on HDD/tape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A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Direct (Random) Access Essentials</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Jump to any offset quickly—databases, indices, virtual memory rely on it</a:t>
            </a:r>
          </a:p>
          <a:p>
            <a:pPr>
              <a:defRPr sz="2400">
                <a:solidFill>
                  <a:srgbClr val="30394A"/>
                </a:solidFill>
              </a:defRPr>
            </a:pPr>
            <a:r>
              <a:t>Requires additional structures (B-trees, hash maps) to map offsets</a:t>
            </a:r>
          </a:p>
          <a:p>
            <a:pPr>
              <a:defRPr sz="2400">
                <a:solidFill>
                  <a:srgbClr val="30394A"/>
                </a:solidFill>
              </a:defRPr>
            </a:pPr>
            <a:r>
              <a:t>SSD minimizes seek penalty; HDD still pays rotational latency</a:t>
            </a:r>
          </a:p>
          <a:p>
            <a:pPr>
              <a:defRPr sz="2400">
                <a:solidFill>
                  <a:srgbClr val="30394A"/>
                </a:solidFill>
              </a:defRPr>
            </a:pPr>
            <a:r>
              <a:t>Risk: thrashing if access pattern is unpredictable and cache-unfriendly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TextBox 1"/>
          <p:cNvSpPr txBox="1"/>
          <p:nvPr/>
        </p:nvSpPr>
        <p:spPr>
          <a:xfrm>
            <a:off x="548640" y="548640"/>
            <a:ext cx="7863840" cy="822960"/>
          </a:xfrm>
          <a:prstGeom prst="rect">
            <a:avLst/>
          </a:prstGeom>
          <a:noFill/>
        </p:spPr>
        <p:txBody>
          <a:bodyPr wrap="none">
            <a:spAutoFit/>
          </a:bodyPr>
          <a:lstStyle/>
          <a:p>
            <a:pPr>
              <a:defRPr sz="3200" b="1">
                <a:solidFill>
                  <a:srgbClr val="30394A"/>
                </a:solidFill>
              </a:defRPr>
            </a:pPr>
            <a:r>
              <a:t>Comparing Strategies</a:t>
            </a:r>
          </a:p>
        </p:txBody>
      </p:sp>
      <p:sp>
        <p:nvSpPr>
          <p:cNvPr id="3" name="TextBox 2"/>
          <p:cNvSpPr txBox="1"/>
          <p:nvPr/>
        </p:nvSpPr>
        <p:spPr>
          <a:xfrm>
            <a:off x="548640" y="1371600"/>
            <a:ext cx="3931920" cy="4937760"/>
          </a:xfrm>
          <a:prstGeom prst="rect">
            <a:avLst/>
          </a:prstGeom>
          <a:noFill/>
        </p:spPr>
        <p:txBody>
          <a:bodyPr wrap="none">
            <a:spAutoFit/>
          </a:bodyPr>
          <a:lstStyle/>
          <a:p>
            <a:pPr>
              <a:defRPr sz="2400" b="1">
                <a:solidFill>
                  <a:srgbClr val="298E8F"/>
                </a:solidFill>
              </a:defRPr>
            </a:pPr>
            <a:r>
              <a:t>Sequential Wins When…</a:t>
            </a:r>
          </a:p>
          <a:p>
            <a:pPr>
              <a:defRPr sz="2200">
                <a:solidFill>
                  <a:srgbClr val="30394A"/>
                </a:solidFill>
              </a:defRPr>
            </a:pPr>
            <a:r>
              <a:t>Processing logs or sensor data chronologically</a:t>
            </a:r>
          </a:p>
          <a:p>
            <a:pPr>
              <a:defRPr sz="2200">
                <a:solidFill>
                  <a:srgbClr val="30394A"/>
                </a:solidFill>
              </a:defRPr>
            </a:pPr>
            <a:r>
              <a:t>Streaming audio/video where order matters</a:t>
            </a:r>
          </a:p>
          <a:p>
            <a:pPr>
              <a:defRPr sz="2200">
                <a:solidFill>
                  <a:srgbClr val="30394A"/>
                </a:solidFill>
              </a:defRPr>
            </a:pPr>
            <a:r>
              <a:t>Running batch jobs that read entire datasets</a:t>
            </a:r>
          </a:p>
        </p:txBody>
      </p:sp>
      <p:sp>
        <p:nvSpPr>
          <p:cNvPr id="4" name="TextBox 3"/>
          <p:cNvSpPr txBox="1"/>
          <p:nvPr/>
        </p:nvSpPr>
        <p:spPr>
          <a:xfrm>
            <a:off x="4663440" y="1371600"/>
            <a:ext cx="3931920" cy="4937760"/>
          </a:xfrm>
          <a:prstGeom prst="rect">
            <a:avLst/>
          </a:prstGeom>
          <a:noFill/>
        </p:spPr>
        <p:txBody>
          <a:bodyPr wrap="none">
            <a:spAutoFit/>
          </a:bodyPr>
          <a:lstStyle/>
          <a:p>
            <a:pPr>
              <a:defRPr sz="2400" b="1">
                <a:solidFill>
                  <a:srgbClr val="F5A942"/>
                </a:solidFill>
              </a:defRPr>
            </a:pPr>
            <a:r>
              <a:t>Direct Wins When…</a:t>
            </a:r>
          </a:p>
          <a:p>
            <a:pPr>
              <a:defRPr sz="2200">
                <a:solidFill>
                  <a:srgbClr val="30394A"/>
                </a:solidFill>
              </a:defRPr>
            </a:pPr>
            <a:r>
              <a:t>Looking up a single record by ID</a:t>
            </a:r>
          </a:p>
          <a:p>
            <a:pPr>
              <a:defRPr sz="2200">
                <a:solidFill>
                  <a:srgbClr val="30394A"/>
                </a:solidFill>
              </a:defRPr>
            </a:pPr>
            <a:r>
              <a:t>Serving web requests with random file access</a:t>
            </a:r>
          </a:p>
          <a:p>
            <a:pPr>
              <a:defRPr sz="2200">
                <a:solidFill>
                  <a:srgbClr val="30394A"/>
                </a:solidFill>
              </a:defRPr>
            </a:pPr>
            <a:r>
              <a:t>Paging memory segments for active processes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Caching &amp; Buffers 101</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Page cache stores recently read blocks to avoid disk hits</a:t>
            </a:r>
          </a:p>
          <a:p>
            <a:pPr>
              <a:defRPr sz="2400">
                <a:solidFill>
                  <a:srgbClr val="30394A"/>
                </a:solidFill>
              </a:defRPr>
            </a:pPr>
            <a:r>
              <a:t>Write-back buffers defer writes for efficiency—watch for power loss</a:t>
            </a:r>
          </a:p>
          <a:p>
            <a:pPr>
              <a:defRPr sz="2400">
                <a:solidFill>
                  <a:srgbClr val="30394A"/>
                </a:solidFill>
              </a:defRPr>
            </a:pPr>
            <a:r>
              <a:t>Prefetch algorithms guess next blocks (good for sequential scans)</a:t>
            </a:r>
          </a:p>
          <a:p>
            <a:pPr>
              <a:defRPr sz="2400">
                <a:solidFill>
                  <a:srgbClr val="30394A"/>
                </a:solidFill>
              </a:defRPr>
            </a:pPr>
            <a:r>
              <a:t>SSD controllers add another caching layer (DRAM, SLC write cache)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A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Disk Anatomy Refresher</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HDD: actuator arm sweeps across platters; seeks + rotation define latency</a:t>
            </a:r>
          </a:p>
          <a:p>
            <a:pPr>
              <a:defRPr sz="2400">
                <a:solidFill>
                  <a:srgbClr val="30394A"/>
                </a:solidFill>
              </a:defRPr>
            </a:pPr>
            <a:r>
              <a:t>SSD: no moving parts; latency dominated by controller and flash cells</a:t>
            </a:r>
          </a:p>
          <a:p>
            <a:pPr>
              <a:defRPr sz="2400">
                <a:solidFill>
                  <a:srgbClr val="30394A"/>
                </a:solidFill>
              </a:defRPr>
            </a:pPr>
            <a:r>
              <a:t>Hybrid drives pair SSD cache with HDD capacity</a:t>
            </a:r>
          </a:p>
          <a:p>
            <a:pPr>
              <a:defRPr sz="2400">
                <a:solidFill>
                  <a:srgbClr val="30394A"/>
                </a:solidFill>
              </a:defRPr>
            </a:pPr>
            <a:r>
              <a:t>Monitoring SMART stats helps preempt failures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Scheduling Goals &amp; Metrics</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Throughput: completed requests / second</a:t>
            </a:r>
          </a:p>
          <a:p>
            <a:pPr>
              <a:defRPr sz="2400">
                <a:solidFill>
                  <a:srgbClr val="30394A"/>
                </a:solidFill>
              </a:defRPr>
            </a:pPr>
            <a:r>
              <a:t>Average wait time per request (fairness indicator)</a:t>
            </a:r>
          </a:p>
          <a:p>
            <a:pPr>
              <a:defRPr sz="2400">
                <a:solidFill>
                  <a:srgbClr val="30394A"/>
                </a:solidFill>
              </a:defRPr>
            </a:pPr>
            <a:r>
              <a:t>Total head movement: proxy for mechanical wear and latency</a:t>
            </a:r>
          </a:p>
          <a:p>
            <a:pPr>
              <a:defRPr sz="2400">
                <a:solidFill>
                  <a:srgbClr val="30394A"/>
                </a:solidFill>
              </a:defRPr>
            </a:pPr>
            <a:r>
              <a:t>Variance in response times: user-facing smoothness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A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FCFS (First-Come, First-Served)</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Serve requests strictly in arrival order</a:t>
            </a:r>
          </a:p>
          <a:p>
            <a:pPr>
              <a:defRPr sz="2400">
                <a:solidFill>
                  <a:srgbClr val="30394A"/>
                </a:solidFill>
              </a:defRPr>
            </a:pPr>
            <a:r>
              <a:t>Pros: simple, fair arrival handling, no starvation</a:t>
            </a:r>
          </a:p>
          <a:p>
            <a:pPr>
              <a:defRPr sz="2400">
                <a:solidFill>
                  <a:srgbClr val="30394A"/>
                </a:solidFill>
              </a:defRPr>
            </a:pPr>
            <a:r>
              <a:t>Cons: ignores head position → long zig-zag seeks</a:t>
            </a:r>
          </a:p>
          <a:p>
            <a:pPr>
              <a:defRPr sz="2400">
                <a:solidFill>
                  <a:srgbClr val="30394A"/>
                </a:solidFill>
              </a:defRPr>
            </a:pPr>
            <a:r>
              <a:t>Best for: low queue depth, SSDs, or fairness-critical workloads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SSTF (Shortest Seek Time First)</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Pick the pending request closest to current head</a:t>
            </a:r>
          </a:p>
          <a:p>
            <a:pPr>
              <a:defRPr sz="2400">
                <a:solidFill>
                  <a:srgbClr val="30394A"/>
                </a:solidFill>
              </a:defRPr>
            </a:pPr>
            <a:r>
              <a:t>Pros: minimizes immediate travel distance → better average latency</a:t>
            </a:r>
          </a:p>
          <a:p>
            <a:pPr>
              <a:defRPr sz="2400">
                <a:solidFill>
                  <a:srgbClr val="30394A"/>
                </a:solidFill>
              </a:defRPr>
            </a:pPr>
            <a:r>
              <a:t>Cons: far tracks can starve if near tracks keep arriving</a:t>
            </a:r>
          </a:p>
          <a:p>
            <a:pPr>
              <a:defRPr sz="2400">
                <a:solidFill>
                  <a:srgbClr val="30394A"/>
                </a:solidFill>
              </a:defRPr>
            </a:pPr>
            <a:r>
              <a:t>Mitigation: age-based priority boosts or hybrid policies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A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SCAN Family: Elevator Strategies</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SCAN: Sweep in one direction, serve along the way, reverse at end</a:t>
            </a:r>
          </a:p>
          <a:p>
            <a:pPr>
              <a:defRPr sz="2400">
                <a:solidFill>
                  <a:srgbClr val="30394A"/>
                </a:solidFill>
              </a:defRPr>
            </a:pPr>
            <a:r>
              <a:t>LOOK: Reverse once no further requests in that direction</a:t>
            </a:r>
          </a:p>
          <a:p>
            <a:pPr>
              <a:defRPr sz="2400">
                <a:solidFill>
                  <a:srgbClr val="30394A"/>
                </a:solidFill>
              </a:defRPr>
            </a:pPr>
            <a:r>
              <a:t>C-SCAN: Jump back to start to equalize wait time for outer tracks</a:t>
            </a:r>
          </a:p>
          <a:p>
            <a:pPr>
              <a:defRPr sz="2400">
                <a:solidFill>
                  <a:srgbClr val="30394A"/>
                </a:solidFill>
              </a:defRPr>
            </a:pPr>
            <a:r>
              <a:t>Great for: disks with heavy queue depths, fairness across cylinders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TextBox 1"/>
          <p:cNvSpPr txBox="1"/>
          <p:nvPr/>
        </p:nvSpPr>
        <p:spPr>
          <a:xfrm>
            <a:off x="548640" y="548640"/>
            <a:ext cx="7680960" cy="822960"/>
          </a:xfrm>
          <a:prstGeom prst="rect">
            <a:avLst/>
          </a:prstGeom>
          <a:noFill/>
        </p:spPr>
        <p:txBody>
          <a:bodyPr wrap="none">
            <a:spAutoFit/>
          </a:bodyPr>
          <a:lstStyle/>
          <a:p>
            <a:pPr>
              <a:defRPr sz="3200" b="1">
                <a:solidFill>
                  <a:srgbClr val="30394A"/>
                </a:solidFill>
              </a:defRPr>
            </a:pPr>
            <a:r>
              <a:t>Case Study: Queue [53 → 98, 183, 37, 122, 14, 124, 65, 67]</a:t>
            </a:r>
          </a:p>
        </p:txBody>
      </p:sp>
      <p:sp>
        <p:nvSpPr>
          <p:cNvPr id="3" name="Oval 2"/>
          <p:cNvSpPr/>
          <p:nvPr/>
        </p:nvSpPr>
        <p:spPr>
          <a:xfrm>
            <a:off x="731520" y="1463040"/>
            <a:ext cx="457200" cy="457200"/>
          </a:xfrm>
          <a:prstGeom prst="ellipse">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6858000" cy="822960"/>
          </a:xfrm>
          <a:prstGeom prst="rect">
            <a:avLst/>
          </a:prstGeom>
          <a:noFill/>
        </p:spPr>
        <p:txBody>
          <a:bodyPr wrap="none">
            <a:spAutoFit/>
          </a:bodyPr>
          <a:lstStyle/>
          <a:p>
            <a:pPr>
              <a:defRPr sz="2400" b="1">
                <a:solidFill>
                  <a:srgbClr val="30394A"/>
                </a:solidFill>
              </a:defRPr>
            </a:pPr>
            <a:r>
              <a:t>1. FCFS</a:t>
            </a:r>
          </a:p>
          <a:p>
            <a:pPr>
              <a:defRPr sz="2000">
                <a:solidFill>
                  <a:srgbClr val="566373"/>
                </a:solidFill>
              </a:defRPr>
            </a:pPr>
            <a:r>
              <a:t>Distance 640 tracks, average wait 213: fairness but huge travel</a:t>
            </a:r>
          </a:p>
        </p:txBody>
      </p:sp>
      <p:sp>
        <p:nvSpPr>
          <p:cNvPr id="5" name="Oval 4"/>
          <p:cNvSpPr/>
          <p:nvPr/>
        </p:nvSpPr>
        <p:spPr>
          <a:xfrm>
            <a:off x="731520" y="2286000"/>
            <a:ext cx="457200" cy="457200"/>
          </a:xfrm>
          <a:prstGeom prst="ellipse">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194560"/>
            <a:ext cx="6858000" cy="822960"/>
          </a:xfrm>
          <a:prstGeom prst="rect">
            <a:avLst/>
          </a:prstGeom>
          <a:noFill/>
        </p:spPr>
        <p:txBody>
          <a:bodyPr wrap="none">
            <a:spAutoFit/>
          </a:bodyPr>
          <a:lstStyle/>
          <a:p>
            <a:pPr>
              <a:defRPr sz="2400" b="1">
                <a:solidFill>
                  <a:srgbClr val="30394A"/>
                </a:solidFill>
              </a:defRPr>
            </a:pPr>
            <a:r>
              <a:t>2. SSTF</a:t>
            </a:r>
          </a:p>
          <a:p>
            <a:pPr>
              <a:defRPr sz="2000">
                <a:solidFill>
                  <a:srgbClr val="566373"/>
                </a:solidFill>
              </a:defRPr>
            </a:pPr>
            <a:r>
              <a:t>Distance 236 tracks, average wait 95: efficient but 14 waits longest</a:t>
            </a:r>
          </a:p>
        </p:txBody>
      </p:sp>
      <p:sp>
        <p:nvSpPr>
          <p:cNvPr id="7" name="Oval 6"/>
          <p:cNvSpPr/>
          <p:nvPr/>
        </p:nvSpPr>
        <p:spPr>
          <a:xfrm>
            <a:off x="731520" y="3108960"/>
            <a:ext cx="457200" cy="457200"/>
          </a:xfrm>
          <a:prstGeom prst="ellipse">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017520"/>
            <a:ext cx="6858000" cy="822960"/>
          </a:xfrm>
          <a:prstGeom prst="rect">
            <a:avLst/>
          </a:prstGeom>
          <a:noFill/>
        </p:spPr>
        <p:txBody>
          <a:bodyPr wrap="none">
            <a:spAutoFit/>
          </a:bodyPr>
          <a:lstStyle/>
          <a:p>
            <a:pPr>
              <a:defRPr sz="2400" b="1">
                <a:solidFill>
                  <a:srgbClr val="30394A"/>
                </a:solidFill>
              </a:defRPr>
            </a:pPr>
            <a:r>
              <a:t>3. SCAN (up then down)</a:t>
            </a:r>
          </a:p>
          <a:p>
            <a:pPr>
              <a:defRPr sz="2000">
                <a:solidFill>
                  <a:srgbClr val="566373"/>
                </a:solidFill>
              </a:defRPr>
            </a:pPr>
            <a:r>
              <a:t>Distance 322 tracks, average wait 124: balances extremes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Designing a Scheduling Policy</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Profile: gather arrival rates, read/write mix, sequential vs. random</a:t>
            </a:r>
          </a:p>
          <a:p>
            <a:pPr>
              <a:defRPr sz="2400">
                <a:solidFill>
                  <a:srgbClr val="30394A"/>
                </a:solidFill>
              </a:defRPr>
            </a:pPr>
            <a:r>
              <a:t>Prioritize: weigh latency SLAs vs. throughput vs. fairness</a:t>
            </a:r>
          </a:p>
          <a:p>
            <a:pPr>
              <a:defRPr sz="2400">
                <a:solidFill>
                  <a:srgbClr val="30394A"/>
                </a:solidFill>
              </a:defRPr>
            </a:pPr>
            <a:r>
              <a:t>Select: choose algorithm, add tweaks (aging, priority queues)</a:t>
            </a:r>
          </a:p>
          <a:p>
            <a:pPr>
              <a:defRPr sz="2400">
                <a:solidFill>
                  <a:srgbClr val="30394A"/>
                </a:solidFill>
              </a:defRPr>
            </a:pPr>
            <a:r>
              <a:t>Monitor: log head movement, wait distribution, adjust over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A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Lab Preview &amp; Roles</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Extension Detective: categorize filenames, flag risky ones</a:t>
            </a:r>
          </a:p>
          <a:p>
            <a:pPr>
              <a:defRPr sz="2400">
                <a:solidFill>
                  <a:srgbClr val="30394A"/>
                </a:solidFill>
              </a:defRPr>
            </a:pPr>
            <a:r>
              <a:t>Access Benchmark: time sequential vs. random reads on sample data</a:t>
            </a:r>
          </a:p>
          <a:p>
            <a:pPr>
              <a:defRPr sz="2400">
                <a:solidFill>
                  <a:srgbClr val="30394A"/>
                </a:solidFill>
              </a:defRPr>
            </a:pPr>
            <a:r>
              <a:t>Scheduler Simulator: implement FCFS/SSTF/SCAN, compare metrics</a:t>
            </a:r>
          </a:p>
          <a:p>
            <a:pPr>
              <a:defRPr sz="2400">
                <a:solidFill>
                  <a:srgbClr val="30394A"/>
                </a:solidFill>
              </a:defRPr>
            </a:pPr>
            <a:r>
              <a:t>Partner Roles: Navigator (reads instructions) + Driver (codes)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AEFF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98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680960" cy="914400"/>
          </a:xfrm>
          <a:prstGeom prst="rect">
            <a:avLst/>
          </a:prstGeom>
          <a:noFill/>
        </p:spPr>
        <p:txBody>
          <a:bodyPr wrap="none">
            <a:spAutoFit/>
          </a:bodyPr>
          <a:lstStyle/>
          <a:p>
            <a:pPr>
              <a:defRPr sz="3400" b="1">
                <a:solidFill>
                  <a:srgbClr val="30394A"/>
                </a:solidFill>
              </a:defRPr>
            </a:pPr>
            <a:r>
              <a:t>Writing Log Prompts (End of Class)</a:t>
            </a:r>
          </a:p>
        </p:txBody>
      </p:sp>
      <p:sp>
        <p:nvSpPr>
          <p:cNvPr id="4" name="TextBox 3"/>
          <p:cNvSpPr txBox="1"/>
          <p:nvPr/>
        </p:nvSpPr>
        <p:spPr>
          <a:xfrm>
            <a:off x="822960" y="1828800"/>
            <a:ext cx="7406640" cy="4389120"/>
          </a:xfrm>
          <a:prstGeom prst="rect">
            <a:avLst/>
          </a:prstGeom>
          <a:noFill/>
        </p:spPr>
        <p:txBody>
          <a:bodyPr wrap="square">
            <a:spAutoFit/>
          </a:bodyPr>
          <a:lstStyle/>
          <a:p>
            <a:pPr>
              <a:defRPr sz="2400">
                <a:solidFill>
                  <a:srgbClr val="30394A"/>
                </a:solidFill>
              </a:defRPr>
            </a:pPr>
            <a:r>
              <a:t>One habit you will change in your directory or backup routine</a:t>
            </a:r>
          </a:p>
          <a:p>
            <a:pPr>
              <a:defRPr sz="2400">
                <a:solidFill>
                  <a:srgbClr val="30394A"/>
                </a:solidFill>
              </a:defRPr>
            </a:pPr>
            <a:r>
              <a:t>One lab insight that challenged your assumptions</a:t>
            </a:r>
          </a:p>
          <a:p>
            <a:pPr>
              <a:defRPr sz="2400">
                <a:solidFill>
                  <a:srgbClr val="30394A"/>
                </a:solidFill>
              </a:defRPr>
            </a:pPr>
            <a:r>
              <a:t>Real-world sequential vs. direct scenario you identified</a:t>
            </a:r>
          </a:p>
          <a:p>
            <a:pPr>
              <a:defRPr sz="2400">
                <a:solidFill>
                  <a:srgbClr val="30394A"/>
                </a:solidFill>
              </a:defRPr>
            </a:pPr>
            <a:r>
              <a:t>Lingering question to explore in the home lab reflection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2D3E"/>
        </a:solidFill>
        <a:effectLst/>
      </p:bgPr>
    </p:bg>
    <p:spTree>
      <p:nvGrpSpPr>
        <p:cNvPr id="1" name=""/>
        <p:cNvGrpSpPr/>
        <p:nvPr/>
      </p:nvGrpSpPr>
      <p:grpSpPr/>
      <p:sp>
        <p:nvSpPr>
          <p:cNvPr id="2" name="TextBox 1"/>
          <p:cNvSpPr txBox="1"/>
          <p:nvPr/>
        </p:nvSpPr>
        <p:spPr>
          <a:xfrm>
            <a:off x="731520" y="731520"/>
            <a:ext cx="7680960" cy="731520"/>
          </a:xfrm>
          <a:prstGeom prst="rect">
            <a:avLst/>
          </a:prstGeom>
          <a:noFill/>
        </p:spPr>
        <p:txBody>
          <a:bodyPr wrap="none">
            <a:spAutoFit/>
          </a:bodyPr>
          <a:lstStyle/>
          <a:p>
            <a:pPr>
              <a:defRPr sz="3000" b="1">
                <a:solidFill>
                  <a:srgbClr val="F5A942"/>
                </a:solidFill>
              </a:defRPr>
            </a:pPr>
            <a:r>
              <a:t>Takeaway</a:t>
            </a:r>
          </a:p>
        </p:txBody>
      </p:sp>
      <p:sp>
        <p:nvSpPr>
          <p:cNvPr id="3" name="TextBox 2"/>
          <p:cNvSpPr txBox="1"/>
          <p:nvPr/>
        </p:nvSpPr>
        <p:spPr>
          <a:xfrm>
            <a:off x="914400" y="1645920"/>
            <a:ext cx="7498079" cy="2743200"/>
          </a:xfrm>
          <a:prstGeom prst="rect">
            <a:avLst/>
          </a:prstGeom>
          <a:noFill/>
        </p:spPr>
        <p:txBody>
          <a:bodyPr wrap="square">
            <a:spAutoFit/>
          </a:bodyPr>
          <a:lstStyle/>
          <a:p>
            <a:pPr>
              <a:defRPr sz="2400" i="1">
                <a:solidFill>
                  <a:srgbClr val="EAEFF4"/>
                </a:solidFill>
              </a:defRPr>
            </a:pPr>
            <a:r>
              <a:t>“Disks remember everything we ask of them. Our job is to ask wisely.”</a:t>
            </a:r>
          </a:p>
        </p:txBody>
      </p:sp>
      <p:sp>
        <p:nvSpPr>
          <p:cNvPr id="4" name="TextBox 3"/>
          <p:cNvSpPr txBox="1"/>
          <p:nvPr/>
        </p:nvSpPr>
        <p:spPr>
          <a:xfrm>
            <a:off x="914400" y="4754880"/>
            <a:ext cx="7498079" cy="914400"/>
          </a:xfrm>
          <a:prstGeom prst="rect">
            <a:avLst/>
          </a:prstGeom>
          <a:noFill/>
        </p:spPr>
        <p:txBody>
          <a:bodyPr wrap="none">
            <a:spAutoFit/>
          </a:bodyPr>
          <a:lstStyle/>
          <a:p>
            <a:pPr>
              <a:defRPr sz="2200">
                <a:solidFill>
                  <a:srgbClr val="FFFFFF"/>
                </a:solidFill>
              </a:defRPr>
            </a:pPr>
            <a:r>
              <a:t>Aim to leave today knowing which access strategy fits each job and which scheduler keeps the system fair.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