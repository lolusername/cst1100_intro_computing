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session spotlights the application layer—the software users touch. I’ll read mostly from these notes; the on-screen bullets stay concise. Our goal is to understand how spreadsheets, relational databases, SQL, and e-commerce transform data into information. Built for ~70–75 minutes with time for an activity and reflection.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(Application Layer, p. 387): appreciate information systems, use spreadsheets intentionally, describe DBMS components, read/write basic SQL, and reason about e-commerce and its risks. Activity + reflection ensure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Application layer is the visible top of the stack (p. 388). People use it daily even without knowing OS or hardware. General information systems let non-programmers organize and analyze data. Examples: spreadsheets, point-of-sale cash registers, ATM front ends, library catalogs, LMS. Think of it as the translation layer between human questions and stored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alone are raw (p. 389). Information is data organized to answer questions. We classify, cluster, transform, sort, and visualize to make sense. Collaboration matters—few people know every nuance of a dataset. Information systems provide shared schemas, formulas, and dashboards so teams can test hypotheses and make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Spreadsheets are approachable information systems (pp. 392–394). Each cell can be text, numeric, or a formula. Ranges let you operate on blocks. They shine for small/medium datasets, prototyping, and what-if modeling because formulas are visible. Copying formulas across rows/columns keeps relationships intact—critical for scaling weekly totals or yearly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formulas stay flexible (pp. 393–394). Use cell references so inserting rows/columns auto-updates. Built-ins handle math, stats, logic, dates (see functions table). Relative references shift when copied; $A$1 absolute stays fixed. Watch for circular references where a formula depends on itself—spreadsheets warn because values would be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Recreated table from p. 394. Read a few aloud: SUM, COUNT, MAX, STDEV, IF, TODAY, LEFT, ISBLANK. Emphasize built-ins reduce errors versus DIY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What-if analysis rests on well-structured formulas (p. 393). Copy formulas to cover 52 weeks in one motion. When you insert a tutor column, range-based formulas expand automatically instead of breaking. Try a 60-second demo: change hourly rate or add a tutor and watch totals/averages recompute.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data grows or sharing increases, we move to a DBMS (p. 399). Components: physical database files, database engine that processes queries, and schema describing logical structure. Users see the schema; the engine handles storage. DBMS supports multi-user access, fast queries, and integrity constraints beyond what spreadsheets can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arrows: user interacts with engine; engine consults schema; schema maps to physical files (p. 399).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Relational databases organize data into tables (pp. 399–400). A record (entity) is a row; fields (attributes) are columns. A key—like MovieId—uniquely identifies each row. Relationships connect tables; ordering on screen is just a view. Physical storage is separate from the logical table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Recreated Fig. 12.8 (p. 400). Point to key MovieId and note uniqueness. Schema notation: Movie(MovieId:key, Title, Genre, Rating).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 modeling helps design schemas (pp. 405–406). Identify entities and their attributes, then relationships with cardinality constraints. One customer can rent many movies; a movie copy is rented by one customer at a time. Relationships can have attributes too (DateRented, DateDue). Sketching uncovers missing fields before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SQL is how we talk to relational DBs (pp. 400–402). Example: SELECT Title, Rating FROM Movie WHERE Rating='PG-13' ORDER BY Title. WHERE combines conditions; ORDER BY sorts results. INSERT adds rows; UPDATE changes fields under a condition; DELETE removes matches. Constraints—like allowed ratings—protect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translations: 1) SELECT Title FROM Movie WHERE Rating='PG-13' ORDER BY Title. 2) SELECT Name FROM Customer WHERE CreditCardNumber IS NULL OR CreditCardNumber='' (p. 400 example fields). 3) SELECT * FROM Rents WHERE DateDue BETWEEN CURRENT_DATE AND CURRENT_DATE + INTERVAL '7 days'. 4) SELECT Rating, COUNT(*) FROM Movie WHERE Genre LIKE '%action%' GROUP BY Rating. Encourage students to narrate their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E-commerce covers marketing through payment (pp. 407–409). Shopping carts maintain selected items; recommendations leverage past behavior. Search/filter/compare are core UX advantages. Amazon iterated on logistics and UX; eBay enabled peer-to-peer auctions; PayPal abstracted card details to build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critical in e-commerce (pp. 409–412). HTTPS protects transit; processors/tokenization protect card numbers. Risks include scanner fraud when database prices differ from shelf labels, phishing emails promising easy money (p. 401 sidebar), and fake-news campaigns influencing voters (pp. 410–412). As designers, expose pricing logic, obtain clear consent, and log changes for auditing.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data describes datasets too large/fast/diverse for spreadsheets or single-node DBMS (p. 410). Examples: billions of web clicks, city IoT sensors, multi-year voter/donor data. Challenges: store, clean, analyze quickly. Solutions: distributed file systems and streaming analytics. Key freshman takeaway: as data scales, tooling and ethics must scale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instructions (aligns with pp. 392–406 content). Step 1: choose scenario. Step 2: list entities and key attributes. Step 3: sketch cardinalities. Step 4: write three queries you need. Step 5: propose one what-if (new membership tier, late fees) and predict schema/formula changes. I’ll circulate with questions about keys and cardinality.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Prompt: What surprised you about turning raw data into an information system? Which design choice would you change after today, and why? How would you explain schemas/formulas to a friend? Write for 5–7 minutes, then pair-share. Reflection consolidates learning and surfaces misconceptions.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Recap: application layer converts data to information via spreadsheets, relational DBMS, SQL, and e-commerce flows. Practice: re-create the four sample queries, redraw an ER diagram for a personal dataset, and refactor a spreadsheet with ranges instead of constants. Next week: communications layer—how networks move the data these apps rely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Application Layer: Information Systems to E-Commerce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CST1100 – Week 13 | Freshman perspective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Define application-layer information systems</a:t>
            </a:r>
          </a:p>
          <a:p>
            <a:pPr>
              <a:defRPr sz="2600"/>
            </a:pPr>
            <a:r>
              <a:t>Model with spreadsheets: formulas, ranges, what-if</a:t>
            </a:r>
          </a:p>
          <a:p>
            <a:pPr>
              <a:defRPr sz="2600"/>
            </a:pPr>
            <a:r>
              <a:t>Explain DBMS parts, relational tables, and keys</a:t>
            </a:r>
          </a:p>
          <a:p>
            <a:pPr>
              <a:defRPr sz="2600"/>
            </a:pPr>
            <a:r>
              <a:t>Practice SQL querying and sketch ER diagrams</a:t>
            </a:r>
          </a:p>
          <a:p>
            <a:pPr>
              <a:defRPr sz="2600"/>
            </a:pPr>
            <a:r>
              <a:t>Examine e-commerce, security, and ethics</a:t>
            </a:r>
          </a:p>
          <a:p>
            <a:pPr>
              <a:defRPr sz="2600"/>
            </a:pPr>
            <a:r>
              <a:t>Do team design + write a reflection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Application Layer?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User-facing software that manages data</a:t>
            </a:r>
          </a:p>
          <a:p>
            <a:pPr>
              <a:defRPr sz="2600"/>
            </a:pPr>
            <a:r>
              <a:t>General information systems = flexible tools</a:t>
            </a:r>
          </a:p>
          <a:p>
            <a:pPr>
              <a:defRPr sz="2600"/>
            </a:pPr>
            <a:r>
              <a:t>Examples: spreadsheets, POS, LMS, web apps</a:t>
            </a:r>
          </a:p>
          <a:p>
            <a:pPr>
              <a:defRPr sz="2600"/>
            </a:pPr>
            <a:r>
              <a:t>Bridge between OS/network and human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Data to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Data = raw facts; information = organized meaning</a:t>
            </a:r>
          </a:p>
          <a:p>
            <a:pPr>
              <a:defRPr sz="2600"/>
            </a:pPr>
            <a:r>
              <a:t>Steps: classify, cluster, transform, summarize</a:t>
            </a:r>
          </a:p>
          <a:p>
            <a:pPr>
              <a:defRPr sz="2600"/>
            </a:pPr>
            <a:r>
              <a:t>Collaboration improves interpretation</a:t>
            </a:r>
          </a:p>
          <a:p>
            <a:pPr>
              <a:defRPr sz="2600"/>
            </a:pPr>
            <a:r>
              <a:t>Systems support hypotheses and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Spreadsheet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Grid of rows/columns; cells hold labels, values, formulas</a:t>
            </a:r>
          </a:p>
          <a:p>
            <a:pPr>
              <a:defRPr sz="2600"/>
            </a:pPr>
            <a:r>
              <a:t>Ranges (C4..E4) group cells for operations</a:t>
            </a:r>
          </a:p>
          <a:p>
            <a:pPr>
              <a:defRPr sz="2600"/>
            </a:pPr>
            <a:r>
              <a:t>Great for quick modeling and transparency</a:t>
            </a:r>
          </a:p>
          <a:p>
            <a:pPr>
              <a:defRPr sz="2600"/>
            </a:pPr>
            <a:r>
              <a:t>Copying formulas scales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Reliable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Reference cells; avoid hard-coded constants</a:t>
            </a:r>
          </a:p>
          <a:p>
            <a:pPr>
              <a:defRPr sz="2600"/>
            </a:pPr>
            <a:r>
              <a:t>Use built-ins: SUM, COUNT, MAX, STDEV, IF, TODAY</a:t>
            </a:r>
          </a:p>
          <a:p>
            <a:pPr>
              <a:defRPr sz="2600"/>
            </a:pPr>
            <a:r>
              <a:t>Mind relative vs. absolute references</a:t>
            </a:r>
          </a:p>
          <a:p>
            <a:pPr>
              <a:defRPr sz="2600"/>
            </a:pPr>
            <a:r>
              <a:t>Prevent circular 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Spreadsheet Functions (Fig. 12.4)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77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/>
                <a:gridCol w="38862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b="1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b="1"/>
                        <a:t>Computes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SUM(val1, val2, ...)/SUM(range)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Sum of the specified set of values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COUNT(val1, val2, ...)/COUNT(range)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Count of the number of cells that contain values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MAX(val1, val2, ...)/MAX(range)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Largest value from the specified set of values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SIN(angle)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The sine of the specified angle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PI()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The value of pi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STDEV(val1, val2, ...)/STDEV(range)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Standard deviation from the specified sample values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TODAY()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Today’s date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LEFT(text, num_chars)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Leftmost characters from the specified text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IF(test, true_val, false_val)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If test true → true_val; else false_val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ISBLANK(value)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True if the specified value refers to an empty cell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What-If Analysis in Spreadsheets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Copying formulas = instant scaling</a:t>
            </a:r>
          </a:p>
          <a:p>
            <a:pPr>
              <a:defRPr sz="2600"/>
            </a:pPr>
            <a:r>
              <a:t>Insert/delete rows/columns safely with ranges</a:t>
            </a:r>
          </a:p>
          <a:p>
            <a:pPr>
              <a:defRPr sz="2600"/>
            </a:pPr>
            <a:r>
              <a:t>Change assumptions → automatic recalculation</a:t>
            </a:r>
          </a:p>
          <a:p>
            <a:pPr>
              <a:defRPr sz="2600"/>
            </a:pPr>
            <a:r>
              <a:t>Supports decision scenarios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Management Systems (DBMS)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Software + data: physical DB, engine, schema</a:t>
            </a:r>
          </a:p>
          <a:p>
            <a:pPr>
              <a:defRPr sz="2600"/>
            </a:pPr>
            <a:r>
              <a:t>Handles large, multi-user, searchable datasets</a:t>
            </a:r>
          </a:p>
          <a:p>
            <a:pPr>
              <a:defRPr sz="2600"/>
            </a:pPr>
            <a:r>
              <a:t>Separates logical view from physical storage</a:t>
            </a:r>
          </a:p>
          <a:p>
            <a:pPr>
              <a:defRPr sz="2600"/>
            </a:pPr>
            <a:r>
              <a:t>Enforces integrity and controlled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DBMS Components (Fig. 12.7)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See diagram on notes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Relational Model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Tables of records (rows) with fields (columns)</a:t>
            </a:r>
          </a:p>
          <a:p>
            <a:pPr>
              <a:defRPr sz="2600"/>
            </a:pPr>
            <a:r>
              <a:t>Keys uniquely identify rows</a:t>
            </a:r>
          </a:p>
          <a:p>
            <a:pPr>
              <a:defRPr sz="2600"/>
            </a:pPr>
            <a:r>
              <a:t>Relationships link tables</a:t>
            </a:r>
          </a:p>
          <a:p>
            <a:pPr>
              <a:defRPr sz="2600"/>
            </a:pPr>
            <a:r>
              <a:t>Logical ordering ≠ physical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Table: Movies (Fig. 12.8)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772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b="1"/>
                        <a:t>MovieId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b="1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b="1"/>
                        <a:t>Genre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b="1"/>
                        <a:t>Rating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Sixth Sense, The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thriller horror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PG-13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Back to the 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comedy adventure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PG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Monsters,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animation 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G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Field of Dreams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fantasy drama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PG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Alien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sci-fi horror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R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Unbreakable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thriller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PG-13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X-Men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action sci-fi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PG-13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Elizabeth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drama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R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5793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Independence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action sci-fi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PG-13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t>7442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Platoon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action drama 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t>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Entity-Relationship (ER)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Visual design before building tables</a:t>
            </a:r>
          </a:p>
          <a:p>
            <a:pPr>
              <a:defRPr sz="2600"/>
            </a:pPr>
            <a:r>
              <a:t>Entities with attributes; relationships connect</a:t>
            </a:r>
          </a:p>
          <a:p>
            <a:pPr>
              <a:defRPr sz="2600"/>
            </a:pPr>
            <a:r>
              <a:t>Cardinality: 1–1, 1–many, many–many</a:t>
            </a:r>
          </a:p>
          <a:p>
            <a:pPr>
              <a:defRPr sz="2600"/>
            </a:pPr>
            <a:r>
              <a:t>Movie rental example: Customer ↔ Rents ↔ Movie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Query Language (SQL)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Retrieve: SELECT ... FROM ... WHERE ...</a:t>
            </a:r>
          </a:p>
          <a:p>
            <a:pPr>
              <a:defRPr sz="2600"/>
            </a:pPr>
            <a:r>
              <a:t>Sort/filter: ORDER BY, AND/OR conditions</a:t>
            </a:r>
          </a:p>
          <a:p>
            <a:pPr>
              <a:defRPr sz="2600"/>
            </a:pPr>
            <a:r>
              <a:t>Modify: INSERT, UPDATE, DELETE</a:t>
            </a:r>
          </a:p>
          <a:p>
            <a:pPr>
              <a:defRPr sz="2600"/>
            </a:pPr>
            <a:r>
              <a:t>Constraints enforce valid values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Query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List PG-13 movies ordered by title</a:t>
            </a:r>
          </a:p>
          <a:p>
            <a:pPr>
              <a:defRPr sz="2600"/>
            </a:pPr>
            <a:r>
              <a:t>Find customers missing credit cards</a:t>
            </a:r>
          </a:p>
          <a:p>
            <a:pPr>
              <a:defRPr sz="2600"/>
            </a:pPr>
            <a:r>
              <a:t>Show rentals due in next 7 days</a:t>
            </a:r>
          </a:p>
          <a:p>
            <a:pPr>
              <a:defRPr sz="2600"/>
            </a:pPr>
            <a:r>
              <a:t>Count action movies by rating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E-Commerce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Buying/selling via the Web</a:t>
            </a:r>
          </a:p>
          <a:p>
            <a:pPr>
              <a:defRPr sz="2600"/>
            </a:pPr>
            <a:r>
              <a:t>Shopping carts, recommendations, search</a:t>
            </a:r>
          </a:p>
          <a:p>
            <a:pPr>
              <a:defRPr sz="2600"/>
            </a:pPr>
            <a:r>
              <a:t>UX often surpasses in-store comparison</a:t>
            </a:r>
          </a:p>
          <a:p>
            <a:pPr>
              <a:defRPr sz="2600"/>
            </a:pPr>
            <a:r>
              <a:t>Examples: Amazon, eBay, PayPal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Trust,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Secure transport (HTTPS), payment/tokenization</a:t>
            </a:r>
          </a:p>
          <a:p>
            <a:pPr>
              <a:defRPr sz="2600"/>
            </a:pPr>
            <a:r>
              <a:t>Risks: fraud, price errors, privacy leaks</a:t>
            </a:r>
          </a:p>
          <a:p>
            <a:pPr>
              <a:defRPr sz="2600"/>
            </a:pPr>
            <a:r>
              <a:t>Politics online: fundraising, messaging, misinformation</a:t>
            </a:r>
          </a:p>
          <a:p>
            <a:pPr>
              <a:defRPr sz="2600"/>
            </a:pPr>
            <a:r>
              <a:t>Design for transparency and consent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Data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Datasets beyond classic tools</a:t>
            </a:r>
          </a:p>
          <a:p>
            <a:pPr>
              <a:defRPr sz="2600"/>
            </a:pPr>
            <a:r>
              <a:t>Challenges: volume, velocity, variety</a:t>
            </a:r>
          </a:p>
          <a:p>
            <a:pPr>
              <a:defRPr sz="2600"/>
            </a:pPr>
            <a:r>
              <a:t>Examples: clickstreams, IoT sensors, campaign analytics</a:t>
            </a:r>
          </a:p>
          <a:p>
            <a:pPr>
              <a:defRPr sz="2600"/>
            </a:pPr>
            <a:r>
              <a:t>Needs distributed storage and new analysis approaches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Activity: Design to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Teams of 3–4; 20 minutes total</a:t>
            </a:r>
          </a:p>
          <a:p>
            <a:pPr>
              <a:defRPr sz="2600"/>
            </a:pPr>
            <a:r>
              <a:t>Pick a scenario (club, tutoring, rentals)</a:t>
            </a:r>
          </a:p>
          <a:p>
            <a:pPr>
              <a:defRPr sz="2600"/>
            </a:pPr>
            <a:r>
              <a:t>List entities/attributes; sketch relationships</a:t>
            </a:r>
          </a:p>
          <a:p>
            <a:pPr>
              <a:defRPr sz="2600"/>
            </a:pPr>
            <a:r>
              <a:t>Draft 3 SQL queries + 1 what-if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5–7 minutes individual writing</a:t>
            </a:r>
          </a:p>
          <a:p>
            <a:pPr>
              <a:defRPr sz="2600"/>
            </a:pPr>
            <a:r>
              <a:t>Prompt: insights + design change you’d make</a:t>
            </a:r>
          </a:p>
          <a:p>
            <a:pPr>
              <a:defRPr sz="2600"/>
            </a:pPr>
            <a:r>
              <a:t>Share one takeaway with a partner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600"/>
            </a:pPr>
            <a:r>
              <a:t>Application layer links users to data</a:t>
            </a:r>
          </a:p>
          <a:p>
            <a:pPr>
              <a:defRPr sz="2600"/>
            </a:pPr>
            <a:r>
              <a:t>Spreadsheets → DBMS → SQL → e-commerce</a:t>
            </a:r>
          </a:p>
          <a:p>
            <a:pPr>
              <a:defRPr sz="2600"/>
            </a:pPr>
            <a:r>
              <a:t>Practice: redo queries, redraw an ER for your data</a:t>
            </a:r>
          </a:p>
          <a:p>
            <a:pPr>
              <a:defRPr sz="2600"/>
            </a:pPr>
            <a:r>
              <a:t>Preview: networking/WWW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