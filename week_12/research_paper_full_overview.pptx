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a full walkthrough of the first formal research paper. Tie to MLA skills from earlier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authentic reasons: professional communication, critical thinking, alignment with program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know approximately how long each block lasts; mention exit ticket at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narrate each prompt; invite initial votes or impressions but save decisions for later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them Purdue OWL and CUNY Library are key resources; cite the PDF expectations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Week 12 MLA practice document; reassure them the same doc is the template for final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back to their interests/majors; remind them they can connect to lived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clear these dates can shift for your section but order must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quick list-building in small groups; remind them to keep both pros and cons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them to pick industries relevant to CIS, business, or liberal arts majors.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planning template; tie to group station work happening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them to recycle content from in-class reflection to jumpstart thesis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example of data visualization to show what “evidence” can look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optional template or remind them to upload outline for quick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MLA exercise—they already practiced formatting headings and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to give/receive actionable comments (“add statistic here...”).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metacognitive goals; reflection paragraph is required per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them to keep final version for ePortfolio or job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mirrors the Week 12 Research Paper Launch Studio doc you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to complete template digitally or on paper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 ensures accountability; matches instructions in Week 12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encouragement; remind them resources (tutoring, writing center) are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12 Research Paper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brainstorming through MLA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Paper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Demonstrates you can analyze tech impacts with credible evidence</a:t>
            </a:r>
          </a:p>
          <a:p>
            <a:pPr>
              <a:defRPr sz="2400"/>
            </a:pPr>
            <a:r>
              <a:t>Connects course themes (computing, ethics, literacy) to real communities</a:t>
            </a:r>
          </a:p>
          <a:p>
            <a:pPr>
              <a:defRPr sz="2400"/>
            </a:pPr>
            <a:r>
              <a:t>Builds MLA formatting muscles ahead of upper-level writing</a:t>
            </a:r>
          </a:p>
          <a:p>
            <a:pPr>
              <a:defRPr sz="2400"/>
            </a:pPr>
            <a:r>
              <a:t>Leads directly into group work + in-class reflection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Review prompts, requirements, and supports</a:t>
            </a:r>
          </a:p>
          <a:p>
            <a:pPr>
              <a:defRPr sz="2400"/>
            </a:pPr>
            <a:r>
              <a:t>Walk step-by-step through the scaffolded process</a:t>
            </a:r>
          </a:p>
          <a:p>
            <a:pPr>
              <a:defRPr sz="2400"/>
            </a:pPr>
            <a:r>
              <a:t>Surface model cases (good/bad) for both topic options</a:t>
            </a:r>
          </a:p>
          <a:p>
            <a:pPr>
              <a:defRPr sz="2400"/>
            </a:pPr>
            <a:r>
              <a:t>Plan group investigations + individual reflection deliverable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Prompt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Pros &amp; Cons of Social Networking: 5-paragraph argumentative essay on platforms like Instagram, TikTok, Facebook, X</a:t>
            </a:r>
          </a:p>
          <a:p>
            <a:pPr>
              <a:defRPr sz="2400"/>
            </a:pPr>
            <a:r>
              <a:t>Exploring Artificial Intelligence: analyze AI impact in one industry with benefits, risks, ethics, and human roles</a:t>
            </a:r>
          </a:p>
          <a:p>
            <a:pPr>
              <a:defRPr sz="2400"/>
            </a:pPr>
            <a:r>
              <a:t>Class can choose one prompt together or pursue individual choice per PDF instructions</a:t>
            </a:r>
          </a:p>
        </p:txBody>
      </p:sp>
      <p:pic>
        <p:nvPicPr>
          <p:cNvPr id="4" name="Picture 3" descr="social_net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3291840" cy="2194560"/>
          </a:xfrm>
          <a:prstGeom prst="rect">
            <a:avLst/>
          </a:prstGeom>
        </p:spPr>
      </p:pic>
      <p:pic>
        <p:nvPicPr>
          <p:cNvPr id="5" name="Picture 4" descr="ai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291840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Requirements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Length: 3 full pages in Word (not counting Works Cited)</a:t>
            </a:r>
          </a:p>
          <a:p>
            <a:pPr>
              <a:defRPr sz="2400"/>
            </a:pPr>
            <a:r>
              <a:t>Spacing &amp; Layout: 1.5 spacing, default margins, Times New Roman 12 pt, MLA heading + header</a:t>
            </a:r>
          </a:p>
          <a:p>
            <a:pPr>
              <a:defRPr sz="2400"/>
            </a:pPr>
            <a:r>
              <a:t>Sources: 6–8 credible sources (≥3 pro, ≥3 con) no Wikipedia; cite using MLA 9</a:t>
            </a:r>
          </a:p>
          <a:p>
            <a:pPr>
              <a:defRPr sz="2400"/>
            </a:pPr>
            <a:r>
              <a:t>Format: submit DOCX or PDF + final reflection paragraph on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MLA &amp; Research Supports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Reuse the MLA checklist from today’s exercise for margins, headers, in-text citations, Works Cited</a:t>
            </a:r>
          </a:p>
          <a:p>
            <a:pPr>
              <a:defRPr sz="2400"/>
            </a:pPr>
            <a:r>
              <a:t>Purdue OWL + sample papers stay open while you draft</a:t>
            </a:r>
          </a:p>
          <a:p>
            <a:pPr>
              <a:defRPr sz="2400"/>
            </a:pPr>
            <a:r>
              <a:t>CUNY databases, Google Scholar, news outlets, professional orgs = approved evidence pools</a:t>
            </a:r>
          </a:p>
          <a:p>
            <a:pPr>
              <a:defRPr sz="2400"/>
            </a:pPr>
            <a:r>
              <a:t>Capture metadata immediately to avoid citation scramble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Choice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Social Networking Lens</a:t>
            </a:r>
          </a:p>
          <a:p>
            <a:pPr lvl="1"/>
            <a:r>
              <a:t>Community organizing, career building, or civic harms</a:t>
            </a:r>
          </a:p>
          <a:p>
            <a:pPr lvl="1"/>
            <a:r>
              <a:t>Case study idea: Cambridge Analytica data misuse</a:t>
            </a:r>
          </a:p>
          <a:p>
            <a:pPr lvl="1"/>
            <a:r>
              <a:t>Evidence sources: communication studies, sociology, policy reports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Artificial Intelligence Lens</a:t>
            </a:r>
          </a:p>
          <a:p>
            <a:pPr lvl="1"/>
            <a:r>
              <a:t>Industry focus (healthcare, education, business, etc.)</a:t>
            </a:r>
          </a:p>
          <a:p>
            <a:pPr lvl="1"/>
            <a:r>
              <a:t>Case ideas: ML-guided cancer surgery vs. biased sentencing/policing</a:t>
            </a:r>
          </a:p>
          <a:p>
            <a:pPr lvl="1"/>
            <a:r>
              <a:t>Evidence sources: CS research, ethics, law, economics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Scaffolded Timeline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Step 1: Brainstorm &amp; discussion (9/30)</a:t>
            </a:r>
          </a:p>
          <a:p>
            <a:pPr>
              <a:defRPr sz="2400"/>
            </a:pPr>
            <a:r>
              <a:t>Step 2: Organize thoughts + pro/con or job tables (10/7)</a:t>
            </a:r>
          </a:p>
          <a:p>
            <a:pPr>
              <a:defRPr sz="2400"/>
            </a:pPr>
            <a:r>
              <a:t>Step 3: Thesis + topic sentences (10/9)</a:t>
            </a:r>
          </a:p>
          <a:p>
            <a:pPr>
              <a:defRPr sz="2400"/>
            </a:pPr>
            <a:r>
              <a:t>Step 4: Evidence gathering (10/14)</a:t>
            </a:r>
          </a:p>
          <a:p>
            <a:pPr>
              <a:defRPr sz="2400"/>
            </a:pPr>
            <a:r>
              <a:t>Step 5: Outline (10/16)</a:t>
            </a:r>
          </a:p>
          <a:p>
            <a:pPr>
              <a:defRPr sz="2400"/>
            </a:pPr>
            <a:r>
              <a:t>Step 6: Drafting (10/21)</a:t>
            </a:r>
          </a:p>
          <a:p>
            <a:pPr>
              <a:defRPr sz="2400"/>
            </a:pPr>
            <a:r>
              <a:t>Step 7: Peer review (10/23)</a:t>
            </a:r>
          </a:p>
          <a:p>
            <a:pPr>
              <a:defRPr sz="2400"/>
            </a:pPr>
            <a:r>
              <a:t>Step 8: Revision + reflection paragraph (10/28)</a:t>
            </a:r>
          </a:p>
          <a:p>
            <a:pPr>
              <a:defRPr sz="2400"/>
            </a:pPr>
            <a:r>
              <a:t>Step 9: Final submission (10/30)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Brainstorm — Social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Guiding Questions</a:t>
            </a:r>
          </a:p>
          <a:p>
            <a:pPr lvl="1"/>
            <a:r>
              <a:t>How do platforms help people connect across distance?</a:t>
            </a:r>
          </a:p>
          <a:p>
            <a:pPr lvl="1"/>
            <a:r>
              <a:t>Which drawbacks hit your community (privacy, mental health, misinformation)?</a:t>
            </a:r>
          </a:p>
          <a:p>
            <a:pPr lvl="1"/>
            <a:r>
              <a:t>What personal or local stories could anchor your stance?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social_net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Brainstorm —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Guiding Questions</a:t>
            </a:r>
          </a:p>
          <a:p>
            <a:pPr lvl="1"/>
            <a:r>
              <a:t>Will AI replace jobs or create new ones in your field?</a:t>
            </a:r>
          </a:p>
          <a:p>
            <a:pPr lvl="1"/>
            <a:r>
              <a:t>What ethical concerns (bias, surveillance, regulation) stand out?</a:t>
            </a:r>
          </a:p>
          <a:p>
            <a:pPr lvl="1"/>
            <a:r>
              <a:t>How should students prepare for an AI-heavy workplace?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ai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Organize Your Thoughts (Due 10/7)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Social Networking: build a pro/con table to see argument strength</a:t>
            </a:r>
          </a:p>
          <a:p>
            <a:pPr>
              <a:defRPr sz="2400"/>
            </a:pPr>
            <a:r>
              <a:t>AI: compare “jobs replaced” vs. “jobs created” + note evidence needed</a:t>
            </a:r>
          </a:p>
          <a:p>
            <a:pPr>
              <a:defRPr sz="2400"/>
            </a:pPr>
            <a:r>
              <a:t>Circle the column that feels richer; that becomes your stance</a:t>
            </a:r>
          </a:p>
          <a:p>
            <a:pPr>
              <a:defRPr sz="2400"/>
            </a:pPr>
            <a:r>
              <a:t>Share a screenshot or upload your table to the LMS for accountability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Thesis &amp; Topic Sentences (Due 10/9)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Draft a precise thesis that states stance + 2-3 supporting points</a:t>
            </a:r>
          </a:p>
          <a:p>
            <a:pPr>
              <a:defRPr sz="2400"/>
            </a:pPr>
            <a:r>
              <a:t>Write topic sentences for each body paragraph to keep outline on track</a:t>
            </a:r>
          </a:p>
          <a:p>
            <a:pPr>
              <a:defRPr sz="2400"/>
            </a:pPr>
            <a:r>
              <a:t>Check: does each topic sentence link back to thesis + include a debatable idea?</a:t>
            </a:r>
          </a:p>
          <a:p>
            <a:pPr>
              <a:defRPr sz="2400"/>
            </a:pPr>
            <a:r>
              <a:t>Bring draft thesis to office hours or discussion board for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Evidence Gathering (Due 10/14)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Locate at least 5 sources (mix of articles, videos, studies) before drafting</a:t>
            </a:r>
          </a:p>
          <a:p>
            <a:pPr>
              <a:defRPr sz="2400"/>
            </a:pPr>
            <a:r>
              <a:t>Record quotes or paraphrases with MLA citations in an evidence log</a:t>
            </a:r>
          </a:p>
          <a:p>
            <a:pPr>
              <a:defRPr sz="2400"/>
            </a:pPr>
            <a:r>
              <a:t>Tag each source as pro, con, or background to maintain balance</a:t>
            </a:r>
          </a:p>
          <a:p>
            <a:pPr>
              <a:defRPr sz="2400"/>
            </a:pPr>
            <a:r>
              <a:t>Capture media type + reliability notes (CRAAP test) for later Works Cited</a:t>
            </a:r>
          </a:p>
        </p:txBody>
      </p:sp>
      <p:pic>
        <p:nvPicPr>
          <p:cNvPr id="4" name="Picture 3" descr="ai_canc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4023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Outline (Due 10/16)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Intro: hook + context + thesis</a:t>
            </a:r>
          </a:p>
          <a:p>
            <a:pPr>
              <a:defRPr sz="2400"/>
            </a:pPr>
            <a:r>
              <a:t>Body: Social prompt = at least 2 body paragraphs (pro + con or both); AI prompt = 3 body paragraphs (definition, benefits, risks)</a:t>
            </a:r>
          </a:p>
          <a:p>
            <a:pPr>
              <a:defRPr sz="2400"/>
            </a:pPr>
            <a:r>
              <a:t>Each section lists main evidence + transition idea</a:t>
            </a:r>
          </a:p>
          <a:p>
            <a:pPr>
              <a:defRPr sz="2400"/>
            </a:pPr>
            <a:r>
              <a:t>Conclusion: revisit stakes + call to action or future research question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Drafting (Due 10/21)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Turn outline paragraphs into complete sentences; focus on clarity over polish</a:t>
            </a:r>
          </a:p>
          <a:p>
            <a:pPr>
              <a:defRPr sz="2400"/>
            </a:pPr>
            <a:r>
              <a:t>Integrate quotations + paraphrases with MLA in-text citations</a:t>
            </a:r>
          </a:p>
          <a:p>
            <a:pPr>
              <a:defRPr sz="2400"/>
            </a:pPr>
            <a:r>
              <a:t>Flag sections needing more research so you can revisit evidence log</a:t>
            </a:r>
          </a:p>
          <a:p>
            <a:pPr>
              <a:defRPr sz="2400"/>
            </a:pPr>
            <a:r>
              <a:t>Submit draft to instructor for quick diagnostic 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Peer Review (Due 10/23)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Exchange drafts + use the Peer Review Rubric 10_19.docx</a:t>
            </a:r>
          </a:p>
          <a:p>
            <a:pPr>
              <a:defRPr sz="2400"/>
            </a:pPr>
            <a:r>
              <a:t>Focus on argument clarity, organization, grammar, and evidence strength</a:t>
            </a:r>
          </a:p>
          <a:p>
            <a:pPr>
              <a:defRPr sz="2400"/>
            </a:pPr>
            <a:r>
              <a:t>Ask reviewers to highlight thesis, topic sentences, and MLA errors</a:t>
            </a:r>
          </a:p>
          <a:p>
            <a:pPr>
              <a:defRPr sz="2400"/>
            </a:pPr>
            <a:r>
              <a:t>Summarize feedback + next steps in your journal or planning template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Revision &amp; Reflection (Due 10/28)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Revise based on peer + instructor notes: reorganize sections, deepen analysis</a:t>
            </a:r>
          </a:p>
          <a:p>
            <a:pPr>
              <a:defRPr sz="2400"/>
            </a:pPr>
            <a:r>
              <a:t>Check MLA formatting end-to-end (header, spacing, Works Cited alignment)</a:t>
            </a:r>
          </a:p>
          <a:p>
            <a:pPr>
              <a:defRPr sz="2400"/>
            </a:pPr>
            <a:r>
              <a:t>Write reflection paragraph: What changed? What did you learn researching tech impacts?</a:t>
            </a:r>
          </a:p>
          <a:p>
            <a:pPr>
              <a:defRPr sz="2400"/>
            </a:pPr>
            <a:r>
              <a:t>Schedule mini-conference if you feel stuck before final submission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Final Submission (Due 10/30)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Export polished DOCX + PDF with MLA formatting intact</a:t>
            </a:r>
          </a:p>
          <a:p>
            <a:pPr>
              <a:defRPr sz="2400"/>
            </a:pPr>
            <a:r>
              <a:t>Submit to LMS along with reflection paragraph + evidence log (if requested)</a:t>
            </a:r>
          </a:p>
          <a:p>
            <a:pPr>
              <a:defRPr sz="2400"/>
            </a:pPr>
            <a:r>
              <a:t>Double-check every in-text citation has a matching Works Cited entry</a:t>
            </a:r>
          </a:p>
          <a:p>
            <a:pPr>
              <a:defRPr sz="2400"/>
            </a:pPr>
            <a:r>
              <a:t>Celebrate! You have a portfolio-ready research paper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12 Launch Studio (Today)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Station work: compare social networking vs. AI sub-questions in groups</a:t>
            </a:r>
          </a:p>
          <a:p>
            <a:pPr>
              <a:defRPr sz="2400"/>
            </a:pPr>
            <a:r>
              <a:t>Evidence &amp; course map: list sources + disciplines (psych, business, CS, ethics)</a:t>
            </a:r>
          </a:p>
          <a:p>
            <a:pPr>
              <a:defRPr sz="2400"/>
            </a:pPr>
            <a:r>
              <a:t>Gallery walk + coaching: capture photos/notes for planning template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Template Check-In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Topic &amp; assignment choice</a:t>
            </a:r>
          </a:p>
          <a:p>
            <a:pPr>
              <a:defRPr sz="2400"/>
            </a:pPr>
            <a:r>
              <a:t>Working thesis + three talking points</a:t>
            </a:r>
          </a:p>
          <a:p>
            <a:pPr>
              <a:defRPr sz="2400"/>
            </a:pPr>
            <a:r>
              <a:t>Evidence leads + courses/disciplines to cite</a:t>
            </a:r>
          </a:p>
          <a:p>
            <a:pPr>
              <a:defRPr sz="2400"/>
            </a:pPr>
            <a:r>
              <a:t>Timeline check + support needed (librarian, instructor, peer)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Writing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Document title: Week12_Research_Plan_LastName</a:t>
            </a:r>
          </a:p>
          <a:p>
            <a:pPr>
              <a:defRPr sz="2400"/>
            </a:pPr>
            <a:r>
              <a:t>Include MLA heading + 1.5 spacing in Word/Docs</a:t>
            </a:r>
          </a:p>
          <a:p>
            <a:pPr>
              <a:defRPr sz="2400"/>
            </a:pPr>
            <a:r>
              <a:t>Minimum 250 words: topic, why it matters, which courses inform research, lingering question</a:t>
            </a:r>
          </a:p>
          <a:p>
            <a:pPr>
              <a:defRPr sz="2400"/>
            </a:pPr>
            <a:r>
              <a:t>Save as DOCX/PDF and upload before class ends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Lock in topic choice + share with instructor via LMS post</a:t>
            </a:r>
          </a:p>
          <a:p>
            <a:pPr>
              <a:defRPr sz="2400"/>
            </a:pPr>
            <a:r>
              <a:t>Schedule evidence-gathering time and library visit this week</a:t>
            </a:r>
          </a:p>
          <a:p>
            <a:pPr>
              <a:defRPr sz="2400"/>
            </a:pPr>
            <a:r>
              <a:t>Bring thesis + topic sentences to next class for quick feedback</a:t>
            </a:r>
          </a:p>
          <a:p>
            <a:pPr>
              <a:defRPr sz="2400"/>
            </a:pPr>
            <a:r>
              <a:t>Stay on top of due dates—set phone reminders for each scaffold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