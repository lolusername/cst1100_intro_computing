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everyone, welcome to Week 12. Today we are laser-focused on mastering MLA style and getting the first research paper off the ground for CST1100.</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today's roadmap: we will clarify why MLA matters for our formal assignment, review document setup, practice citations, work through an MLA lab, and finish by choosing research-friendly topics.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class you should know when MLA is required, how to format a blank document correctly, how to cite sources inside the text and on a Works Cited page, and how to start shaping your research topic.</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MLA stands for the Modern Language Association style. It is the humanities default, it highlights author and page numbers, and we will lean on Purdue OWL as our authoritative reference point.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will use MLA in every formal writing assignment from the scaffolding packet, in essays about media or culture, and anytime a scholarship or transfer school specifically requests MLA.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you open a document, set one inch margins, choose Times New Roman twelve point or an approved alternative, double-space everything, left-align the text, add your last name with the page number in the header, and turn on a half-inch first-line indent.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page does not need a cover sheet. Use the standard heading with your name, my name, the course, and the date, center a clear title, and then start your introduction with that automatic first-line indent.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In-text citations follow a simple pattern: author last name plus page number in parentheses, or weave the author into the sentence and keep the page number in parentheses. No commas, no abbreviation p., and use a shortened title only if no author exists.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Signal phrases do the heavy lifting: they introduce the source, keep your voice in control, and remind readers who is speaking. Even paraphrases need citations, and we stick to present tense verbs like argues or explains when referring to authors.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Short quotes stay inside the paragraph with quotation marks. Longer passages turn into block quotes that start on a new line, get indented half an inch, stay double-spaced, drop the quotation marks, and place the citation after the final punctuation.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Works Cited page always begins on a fresh page, uses the heading Works Cited, keeps double-spacing, applies hanging indents, and lists sources alphabetically by the first element of each entry.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core templates: books use the author, title, publisher, and year; journal articles need the article title, journal title, volume, issue, year, and page range; web pages require the author or organization, page title, site name, date, and URL; videos credit the creator, video title, platform, uploader, date, and URL. End every entry with a period.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parenthetical citation must have a matching Works Cited entry. If you cite multiple works by the same author add a shortened title, always keep page numbers in the parentheses, and double-check italics plus capitalization so readers can find the source.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Avoid the common pitfalls: do not mix citation styles, keep the Works Cited updated, add access dates for sources that can change, remove blue hyperlinks, and never trust a citation generator without proofreading punctuation and italics.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During the MLA practice you will work solo or with a partner to set up the document, locate a book, a scholarly article, and a reputable website, draft a paragraph with two citations, and build a polished Works Cited list before you download the file.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choosing a research topic, revisit the assignment prompt, brainstorm issues tied to technology, literacy, or your major, narrow the idea into an arguable question, confirm that credible sources exist, and pick something that motivates you.</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starting sources, lean on library databases like Academic Search Complete or JSTOR, double-check quick finds in Google Scholar, bring in professional organizations or government data, apply the CRAAP test to everything, and capture citation details immediately.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steps: finish and submit the MLA practice doc, turn in two or three tentative research topics with a one-sentence rationale, gather at least two credible sources per topic for next week, and keep Purdue OWL bookmarked for every citation.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a:normAutofit/>
          </a:bodyPr>
          <a:lstStyle/>
          <a:p>
            <a:r>
              <a:rPr sz="2800"/>
              <a:t>Week 12: Mastering MLA &amp; Launching the Research Paper</a:t>
            </a:r>
          </a:p>
        </p:txBody>
      </p:sp>
      <p:sp>
        <p:nvSpPr>
          <p:cNvPr id="3" name="Subtitle 2"/>
          <p:cNvSpPr>
            <a:spLocks noGrp="1"/>
          </p:cNvSpPr>
          <p:nvPr>
            <p:ph type="subTitle" idx="1"/>
          </p:nvPr>
        </p:nvSpPr>
        <p:spPr/>
        <p:txBody>
          <a:bodyPr wrap="square">
            <a:normAutofit/>
          </a:bodyPr>
          <a:lstStyle/>
          <a:p>
            <a:r>
              <a:rPr sz="2800"/>
              <a:t>CST1100 - Introduction to Computing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800"/>
              <a:t>Today's Roadmap</a:t>
            </a:r>
          </a:p>
        </p:txBody>
      </p:sp>
      <p:sp>
        <p:nvSpPr>
          <p:cNvPr id="3" name="Content Placeholder 2"/>
          <p:cNvSpPr>
            <a:spLocks noGrp="1"/>
          </p:cNvSpPr>
          <p:nvPr>
            <p:ph idx="1"/>
          </p:nvPr>
        </p:nvSpPr>
        <p:spPr/>
        <p:txBody>
          <a:bodyPr wrap="square">
            <a:normAutofit/>
          </a:bodyPr>
          <a:lstStyle/>
          <a:p>
            <a:pPr/>
            <a:r>
              <a:rPr sz="2800"/>
              <a:t>Why MLA format is required for Formal Writing Assignment #1</a:t>
            </a:r>
          </a:p>
          <a:p>
            <a:pPr/>
            <a:r>
              <a:rPr sz="2800"/>
              <a:t>Document setup standards from Purdue OWL</a:t>
            </a:r>
          </a:p>
          <a:p>
            <a:pPr/>
            <a:r>
              <a:rPr sz="2800"/>
              <a:t>How to cite sources in-text and on a Works Cited page</a:t>
            </a:r>
          </a:p>
          <a:p>
            <a:pPr/>
            <a:r>
              <a:rPr sz="2800"/>
              <a:t>Hands-on MLA practice activity</a:t>
            </a:r>
          </a:p>
          <a:p>
            <a:pPr/>
            <a:r>
              <a:rPr sz="2800"/>
              <a:t>Choosing a focused topic and gathering credible sources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800"/>
              <a:t>Learning Goals</a:t>
            </a:r>
          </a:p>
        </p:txBody>
      </p:sp>
      <p:sp>
        <p:nvSpPr>
          <p:cNvPr id="3" name="Content Placeholder 2"/>
          <p:cNvSpPr>
            <a:spLocks noGrp="1"/>
          </p:cNvSpPr>
          <p:nvPr>
            <p:ph idx="1"/>
          </p:nvPr>
        </p:nvSpPr>
        <p:spPr/>
        <p:txBody>
          <a:bodyPr wrap="square">
            <a:normAutofit/>
          </a:bodyPr>
          <a:lstStyle/>
          <a:p>
            <a:pPr/>
            <a:r>
              <a:rPr sz="2800"/>
              <a:t>Explain what MLA style is and when to use it</a:t>
            </a:r>
          </a:p>
          <a:p>
            <a:pPr/>
            <a:r>
              <a:rPr sz="2800"/>
              <a:t>Configure a blank document that meets MLA layout rules</a:t>
            </a:r>
          </a:p>
          <a:p>
            <a:pPr/>
            <a:r>
              <a:rPr sz="2800"/>
              <a:t>Create accurate in-text citations and Works Cited entries</a:t>
            </a:r>
          </a:p>
          <a:p>
            <a:pPr/>
            <a:r>
              <a:rPr sz="2800"/>
              <a:t>Apply MLA conventions to a short paragraph that integrates sources</a:t>
            </a:r>
          </a:p>
          <a:p>
            <a:pPr/>
            <a:r>
              <a:rPr sz="2800"/>
              <a:t>Begin selecting and justifying a topic for the first research paper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800"/>
              <a:t>What is MLA Style?</a:t>
            </a:r>
          </a:p>
        </p:txBody>
      </p:sp>
      <p:sp>
        <p:nvSpPr>
          <p:cNvPr id="3" name="Content Placeholder 2"/>
          <p:cNvSpPr>
            <a:spLocks noGrp="1"/>
          </p:cNvSpPr>
          <p:nvPr>
            <p:ph idx="1"/>
          </p:nvPr>
        </p:nvSpPr>
        <p:spPr/>
        <p:txBody>
          <a:bodyPr wrap="square">
            <a:normAutofit/>
          </a:bodyPr>
          <a:lstStyle/>
          <a:p>
            <a:pPr/>
            <a:r>
              <a:rPr sz="2800"/>
              <a:t>Modern Language Association style is the humanities standard (English, communications, many liberal arts courses)</a:t>
            </a:r>
          </a:p>
          <a:p>
            <a:pPr/>
            <a:r>
              <a:rPr sz="2800"/>
              <a:t>Emphasizes author and page number for in-text citations</a:t>
            </a:r>
          </a:p>
          <a:p>
            <a:pPr/>
            <a:r>
              <a:rPr sz="2800"/>
              <a:t>Provides shared expectations so instructors can assess work consistently</a:t>
            </a:r>
          </a:p>
          <a:p>
            <a:pPr/>
            <a:r>
              <a:rPr sz="2800"/>
              <a:t>Our guide: Purdue OWL's MLA Formatting and Style Guide (owl.purdue.edu)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800"/>
              <a:t>When &amp; Where You'll Use MLA</a:t>
            </a:r>
          </a:p>
        </p:txBody>
      </p:sp>
      <p:sp>
        <p:nvSpPr>
          <p:cNvPr id="3" name="Content Placeholder 2"/>
          <p:cNvSpPr>
            <a:spLocks noGrp="1"/>
          </p:cNvSpPr>
          <p:nvPr>
            <p:ph idx="1"/>
          </p:nvPr>
        </p:nvSpPr>
        <p:spPr/>
        <p:txBody>
          <a:bodyPr wrap="square">
            <a:normAutofit/>
          </a:bodyPr>
          <a:lstStyle/>
          <a:p>
            <a:pPr/>
            <a:r>
              <a:rPr sz="2800"/>
              <a:t>Formal Writing Assignment sequence (see '4 Required Formal Writing Assignments scaffolding 10_20.pdf')</a:t>
            </a:r>
          </a:p>
          <a:p>
            <a:pPr/>
            <a:r>
              <a:rPr sz="2800"/>
              <a:t>Any essay or report that analyzes readings, media, or cultural topics</a:t>
            </a:r>
          </a:p>
          <a:p>
            <a:pPr/>
            <a:r>
              <a:rPr sz="2800"/>
              <a:t>Discussion posts or reflections that reference literary sources</a:t>
            </a:r>
          </a:p>
          <a:p>
            <a:pPr/>
            <a:r>
              <a:rPr sz="2800"/>
              <a:t>Scholarship applications or transfer essays that specify MLA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800"/>
              <a:t>Document Setup Checklist</a:t>
            </a:r>
          </a:p>
        </p:txBody>
      </p:sp>
      <p:sp>
        <p:nvSpPr>
          <p:cNvPr id="3" name="Content Placeholder 2"/>
          <p:cNvSpPr>
            <a:spLocks noGrp="1"/>
          </p:cNvSpPr>
          <p:nvPr>
            <p:ph idx="1"/>
          </p:nvPr>
        </p:nvSpPr>
        <p:spPr/>
        <p:txBody>
          <a:bodyPr wrap="square">
            <a:normAutofit/>
          </a:bodyPr>
          <a:lstStyle/>
          <a:p>
            <a:pPr/>
            <a:r>
              <a:rPr sz="2800"/>
              <a:t>1" margins on all sides; Times New Roman 12 pt (or Arial/Calibri 11 pt)</a:t>
            </a:r>
          </a:p>
          <a:p>
            <a:pPr/>
            <a:r>
              <a:rPr sz="2800"/>
              <a:t>Double-spacing everywhere, including Works Cited; no extra blank lines</a:t>
            </a:r>
          </a:p>
          <a:p>
            <a:pPr/>
            <a:r>
              <a:rPr sz="2800"/>
              <a:t>Left-align text; do not justify</a:t>
            </a:r>
          </a:p>
          <a:p>
            <a:pPr/>
            <a:r>
              <a:rPr sz="2800"/>
              <a:t>Insert running header with your last name and page number in the upper-right corner</a:t>
            </a:r>
          </a:p>
          <a:p>
            <a:pPr/>
            <a:r>
              <a:rPr sz="2800"/>
              <a:t>Use the "Paragraph" settings to add a 0.5" first-line indent for each paragraph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800"/>
              <a:t>First Page Formatting</a:t>
            </a:r>
          </a:p>
        </p:txBody>
      </p:sp>
      <p:sp>
        <p:nvSpPr>
          <p:cNvPr id="3" name="Content Placeholder 2"/>
          <p:cNvSpPr>
            <a:spLocks noGrp="1"/>
          </p:cNvSpPr>
          <p:nvPr>
            <p:ph idx="1"/>
          </p:nvPr>
        </p:nvSpPr>
        <p:spPr/>
        <p:txBody>
          <a:bodyPr wrap="square">
            <a:normAutofit/>
          </a:bodyPr>
          <a:lstStyle/>
          <a:p>
            <a:pPr/>
            <a:r>
              <a:rPr sz="2800"/>
              <a:t>No cover page unless specifically requested</a:t>
            </a:r>
          </a:p>
          <a:p>
            <a:pPr/>
            <a:r>
              <a:rPr sz="2800"/>
              <a:t>Heading (double-spaced, left-aligned): Your Name, Instructor, Course, Due Date (day month year)</a:t>
            </a:r>
          </a:p>
          <a:p>
            <a:pPr/>
            <a:r>
              <a:rPr sz="2800"/>
              <a:t>Center the paper title on the next line; use Title Case; do not bold, italicize, or underline</a:t>
            </a:r>
          </a:p>
          <a:p>
            <a:pPr/>
            <a:r>
              <a:rPr sz="2800"/>
              <a:t>Begin the introduction immediately after the title with a 0.5" first-line indent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800"/>
              <a:t>In-Text Citations Basics</a:t>
            </a:r>
          </a:p>
        </p:txBody>
      </p:sp>
      <p:sp>
        <p:nvSpPr>
          <p:cNvPr id="3" name="Content Placeholder 2"/>
          <p:cNvSpPr>
            <a:spLocks noGrp="1"/>
          </p:cNvSpPr>
          <p:nvPr>
            <p:ph idx="1"/>
          </p:nvPr>
        </p:nvSpPr>
        <p:spPr/>
        <p:txBody>
          <a:bodyPr wrap="square">
            <a:normAutofit/>
          </a:bodyPr>
          <a:lstStyle/>
          <a:p>
            <a:pPr/>
            <a:r>
              <a:rPr sz="2800"/>
              <a:t>Core formula: (Author Last Name page#) or Author signal phrase + (page#)</a:t>
            </a:r>
          </a:p>
          <a:p>
            <a:pPr/>
            <a:r>
              <a:rPr sz="2800"/>
              <a:t>Example: According to Lopez, technology shapes literacy "at every level" (58).</a:t>
            </a:r>
          </a:p>
          <a:p>
            <a:pPr/>
            <a:r>
              <a:rPr sz="2800"/>
              <a:t>Paraphrase example: Social media can fragment attention spans (Nguyen 112).</a:t>
            </a:r>
          </a:p>
          <a:p>
            <a:pPr/>
            <a:r>
              <a:rPr sz="2800"/>
              <a:t>No commas between name and page number; omit p. unless the source lacks pagination</a:t>
            </a:r>
          </a:p>
          <a:p>
            <a:pPr/>
            <a:r>
              <a:rPr sz="2800"/>
              <a:t>If no author, use the first few words of the Works Cited entry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800"/>
              <a:t>Signal Phrases &amp; Paraphrasing</a:t>
            </a:r>
          </a:p>
        </p:txBody>
      </p:sp>
      <p:sp>
        <p:nvSpPr>
          <p:cNvPr id="3" name="Content Placeholder 2"/>
          <p:cNvSpPr>
            <a:spLocks noGrp="1"/>
          </p:cNvSpPr>
          <p:nvPr>
            <p:ph idx="1"/>
          </p:nvPr>
        </p:nvSpPr>
        <p:spPr/>
        <p:txBody>
          <a:bodyPr wrap="square">
            <a:normAutofit/>
          </a:bodyPr>
          <a:lstStyle/>
          <a:p>
            <a:pPr/>
            <a:r>
              <a:rPr sz="2800"/>
              <a:t>Signal phrases introduce the author and provide context before a quote or paraphrase</a:t>
            </a:r>
          </a:p>
          <a:p>
            <a:pPr/>
            <a:r>
              <a:rPr sz="2800"/>
              <a:t>Blend your voice with source material to show analysis, not just copying</a:t>
            </a:r>
          </a:p>
          <a:p>
            <a:pPr/>
            <a:r>
              <a:rPr sz="2800"/>
              <a:t>Use present tense verbs (argues, explains, notes) when discussing authors</a:t>
            </a:r>
          </a:p>
          <a:p>
            <a:pPr/>
            <a:r>
              <a:rPr sz="2800"/>
              <a:t>Always cite paraphrases even when you rewrite the wording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800"/>
              <a:t>Short vs. Block Quotations</a:t>
            </a:r>
          </a:p>
        </p:txBody>
      </p:sp>
      <p:sp>
        <p:nvSpPr>
          <p:cNvPr id="3" name="Content Placeholder 2"/>
          <p:cNvSpPr>
            <a:spLocks noGrp="1"/>
          </p:cNvSpPr>
          <p:nvPr>
            <p:ph idx="1"/>
          </p:nvPr>
        </p:nvSpPr>
        <p:spPr/>
        <p:txBody>
          <a:bodyPr wrap="square">
            <a:normAutofit/>
          </a:bodyPr>
          <a:lstStyle/>
          <a:p>
            <a:pPr/>
            <a:r>
              <a:rPr sz="2800"/>
              <a:t>Short quotes (fewer than four typed lines of prose) stay within the paragraph and inside double quotation marks</a:t>
            </a:r>
          </a:p>
          <a:p>
            <a:pPr/>
            <a:r>
              <a:rPr sz="2800"/>
              <a:t>Place the period after the parenthetical citation</a:t>
            </a:r>
          </a:p>
          <a:p>
            <a:pPr/>
            <a:r>
              <a:rPr sz="2800"/>
              <a:t>Block quotes (four+ lines) start on a new line, are indented 0.5", and stay double-spaced</a:t>
            </a:r>
          </a:p>
          <a:p>
            <a:pPr/>
            <a:r>
              <a:rPr sz="2800"/>
              <a:t>Block quotes omit quotation marks and place the citation after the final punctuation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800"/>
              <a:t>Works Cited Fundamentals</a:t>
            </a:r>
          </a:p>
        </p:txBody>
      </p:sp>
      <p:sp>
        <p:nvSpPr>
          <p:cNvPr id="3" name="Content Placeholder 2"/>
          <p:cNvSpPr>
            <a:spLocks noGrp="1"/>
          </p:cNvSpPr>
          <p:nvPr>
            <p:ph idx="1"/>
          </p:nvPr>
        </p:nvSpPr>
        <p:spPr/>
        <p:txBody>
          <a:bodyPr wrap="square">
            <a:normAutofit/>
          </a:bodyPr>
          <a:lstStyle/>
          <a:p>
            <a:pPr/>
            <a:r>
              <a:rPr sz="2800"/>
              <a:t>Start on a new page titled "Works Cited" (centered)</a:t>
            </a:r>
          </a:p>
          <a:p>
            <a:pPr/>
            <a:r>
              <a:rPr sz="2800"/>
              <a:t>Entries are double-spaced with hanging indents (first line flush left, others indented 0.5")</a:t>
            </a:r>
          </a:p>
          <a:p>
            <a:pPr/>
            <a:r>
              <a:rPr sz="2800"/>
              <a:t>Alphabetize by the first item in each entry (usually the author's last name)</a:t>
            </a:r>
          </a:p>
          <a:p>
            <a:pPr/>
            <a:r>
              <a:rPr sz="2800"/>
              <a:t>Only include sources that appear in the body of your paper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800"/>
              <a:t>Common Source Templates</a:t>
            </a:r>
          </a:p>
        </p:txBody>
      </p:sp>
      <p:sp>
        <p:nvSpPr>
          <p:cNvPr id="3" name="Content Placeholder 2"/>
          <p:cNvSpPr>
            <a:spLocks noGrp="1"/>
          </p:cNvSpPr>
          <p:nvPr>
            <p:ph idx="1"/>
          </p:nvPr>
        </p:nvSpPr>
        <p:spPr/>
        <p:txBody>
          <a:bodyPr wrap="square">
            <a:normAutofit/>
          </a:bodyPr>
          <a:lstStyle/>
          <a:p>
            <a:pPr/>
            <a:r>
              <a:rPr sz="2800"/>
              <a:t>Book: Last, First. *Title of Book*. Publisher, Year.</a:t>
            </a:r>
          </a:p>
          <a:p>
            <a:pPr/>
            <a:r>
              <a:rPr sz="2800"/>
              <a:t>Journal Article: Last, First. "Article Title." *Journal Name*, vol. #, no. #, Year, pp. #-#.</a:t>
            </a:r>
          </a:p>
          <a:p>
            <a:pPr/>
            <a:r>
              <a:rPr sz="2800"/>
              <a:t>Web Article: Last, First (or Org). "Page Title." *Website Name*, Day Month Year, URL.</a:t>
            </a:r>
          </a:p>
          <a:p>
            <a:pPr/>
            <a:r>
              <a:rPr sz="2800"/>
              <a:t>Online Video: Creator Username. "Video Title." *Platform*, uploaded by Name, Day Month Year, URL.</a:t>
            </a:r>
          </a:p>
          <a:p>
            <a:pPr/>
            <a:r>
              <a:rPr sz="2800"/>
              <a:t>Always end entries with a period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800"/>
              <a:t>Matching In-Text and Works Cited</a:t>
            </a:r>
          </a:p>
        </p:txBody>
      </p:sp>
      <p:sp>
        <p:nvSpPr>
          <p:cNvPr id="3" name="Content Placeholder 2"/>
          <p:cNvSpPr>
            <a:spLocks noGrp="1"/>
          </p:cNvSpPr>
          <p:nvPr>
            <p:ph idx="1"/>
          </p:nvPr>
        </p:nvSpPr>
        <p:spPr/>
        <p:txBody>
          <a:bodyPr wrap="square">
            <a:normAutofit/>
          </a:bodyPr>
          <a:lstStyle/>
          <a:p>
            <a:pPr/>
            <a:r>
              <a:rPr sz="2800"/>
              <a:t>Every in-text citation must have a Works Cited entry</a:t>
            </a:r>
          </a:p>
          <a:p>
            <a:pPr/>
            <a:r>
              <a:rPr sz="2800"/>
              <a:t>Use shortened titles in parentheses only when no author is available</a:t>
            </a:r>
          </a:p>
          <a:p>
            <a:pPr/>
            <a:r>
              <a:rPr sz="2800"/>
              <a:t>Page numbers belong in the parentheses even if mentioned in the sentence</a:t>
            </a:r>
          </a:p>
          <a:p>
            <a:pPr/>
            <a:r>
              <a:rPr sz="2800"/>
              <a:t>For multiple works by the same author, add a shortened title in the citation</a:t>
            </a:r>
          </a:p>
          <a:p>
            <a:pPr/>
            <a:r>
              <a:rPr sz="2800"/>
              <a:t>Double-check capitalization and italics so readers can locate sources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800"/>
              <a:t>Common MLA Pitfalls</a:t>
            </a:r>
          </a:p>
        </p:txBody>
      </p:sp>
      <p:sp>
        <p:nvSpPr>
          <p:cNvPr id="3" name="Content Placeholder 2"/>
          <p:cNvSpPr>
            <a:spLocks noGrp="1"/>
          </p:cNvSpPr>
          <p:nvPr>
            <p:ph idx="1"/>
          </p:nvPr>
        </p:nvSpPr>
        <p:spPr/>
        <p:txBody>
          <a:bodyPr wrap="square">
            <a:normAutofit/>
          </a:bodyPr>
          <a:lstStyle/>
          <a:p>
            <a:pPr/>
            <a:r>
              <a:rPr sz="2800"/>
              <a:t>Mixing citation styles (APA, Chicago) within one paper</a:t>
            </a:r>
          </a:p>
          <a:p>
            <a:pPr/>
            <a:r>
              <a:rPr sz="2800"/>
              <a:t>Forgetting to update the Works Cited when you remove or add sources</a:t>
            </a:r>
          </a:p>
          <a:p>
            <a:pPr/>
            <a:r>
              <a:rPr sz="2800"/>
              <a:t>Including URLs without access dates when the site is likely to change</a:t>
            </a:r>
          </a:p>
          <a:p>
            <a:pPr/>
            <a:r>
              <a:rPr sz="2800"/>
              <a:t>Leaving hyperlinks blue or underlined - remove hyperlink formatting in MLA papers</a:t>
            </a:r>
          </a:p>
          <a:p>
            <a:pPr/>
            <a:r>
              <a:rPr sz="2800"/>
              <a:t>Using citation generators without verifying punctuation and italics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800"/>
              <a:t>In-Class MLA Practice</a:t>
            </a:r>
          </a:p>
        </p:txBody>
      </p:sp>
      <p:sp>
        <p:nvSpPr>
          <p:cNvPr id="3" name="Content Placeholder 2"/>
          <p:cNvSpPr>
            <a:spLocks noGrp="1"/>
          </p:cNvSpPr>
          <p:nvPr>
            <p:ph idx="1"/>
          </p:nvPr>
        </p:nvSpPr>
        <p:spPr/>
        <p:txBody>
          <a:bodyPr wrap="square">
            <a:normAutofit/>
          </a:bodyPr>
          <a:lstStyle/>
          <a:p>
            <a:pPr/>
            <a:r>
              <a:rPr sz="2800"/>
              <a:t>Work individually or in pairs on the MLA exercise (Word or Google Docs)</a:t>
            </a:r>
          </a:p>
          <a:p>
            <a:pPr/>
            <a:r>
              <a:rPr sz="2800"/>
              <a:t>Use built-in styles to confirm spacing, heading, and header settings</a:t>
            </a:r>
          </a:p>
          <a:p>
            <a:pPr/>
            <a:r>
              <a:rPr sz="2800"/>
              <a:t>Locate three source types: book or ebook, scholarly article, reputable website</a:t>
            </a:r>
          </a:p>
          <a:p>
            <a:pPr/>
            <a:r>
              <a:rPr sz="2800"/>
              <a:t>Write a short paragraph that integrates at least two of the sources with proper in-text citations</a:t>
            </a:r>
          </a:p>
          <a:p>
            <a:pPr/>
            <a:r>
              <a:rPr sz="2800"/>
              <a:t>Create and double-check a Works Cited list, then download or export your document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800"/>
              <a:t>Choosing a Research Topic</a:t>
            </a:r>
          </a:p>
        </p:txBody>
      </p:sp>
      <p:sp>
        <p:nvSpPr>
          <p:cNvPr id="3" name="Content Placeholder 2"/>
          <p:cNvSpPr>
            <a:spLocks noGrp="1"/>
          </p:cNvSpPr>
          <p:nvPr>
            <p:ph idx="1"/>
          </p:nvPr>
        </p:nvSpPr>
        <p:spPr/>
        <p:txBody>
          <a:bodyPr wrap="square">
            <a:normAutofit/>
          </a:bodyPr>
          <a:lstStyle/>
          <a:p>
            <a:pPr/>
            <a:r>
              <a:rPr sz="2800"/>
              <a:t>Review the formal assignment prompt and rubric in the scaffolding PDF</a:t>
            </a:r>
          </a:p>
          <a:p>
            <a:pPr/>
            <a:r>
              <a:rPr sz="2800"/>
              <a:t>Brainstorm issues connected to technology, literacy, or your major</a:t>
            </a:r>
          </a:p>
          <a:p>
            <a:pPr/>
            <a:r>
              <a:rPr sz="2800"/>
              <a:t>Narrow broad themes into arguable, researchable questions</a:t>
            </a:r>
          </a:p>
          <a:p>
            <a:pPr/>
            <a:r>
              <a:rPr sz="2800"/>
              <a:t>Check that credible sources exist before committing</a:t>
            </a:r>
          </a:p>
          <a:p>
            <a:pPr/>
            <a:r>
              <a:rPr sz="2800"/>
              <a:t>Aim for a topic that connects personal curiosity with course goals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800"/>
              <a:t>Finding Starting Sources</a:t>
            </a:r>
          </a:p>
        </p:txBody>
      </p:sp>
      <p:sp>
        <p:nvSpPr>
          <p:cNvPr id="3" name="Content Placeholder 2"/>
          <p:cNvSpPr>
            <a:spLocks noGrp="1"/>
          </p:cNvSpPr>
          <p:nvPr>
            <p:ph idx="1"/>
          </p:nvPr>
        </p:nvSpPr>
        <p:spPr/>
        <p:txBody>
          <a:bodyPr wrap="square">
            <a:normAutofit/>
          </a:bodyPr>
          <a:lstStyle/>
          <a:p>
            <a:pPr/>
            <a:r>
              <a:rPr sz="2800"/>
              <a:t>Library databases (Academic Search Complete, JSTOR, Gale) for peer-reviewed work</a:t>
            </a:r>
          </a:p>
          <a:p>
            <a:pPr/>
            <a:r>
              <a:rPr sz="2800"/>
              <a:t>Google Scholar for quick discovery - verify with library access</a:t>
            </a:r>
          </a:p>
          <a:p>
            <a:pPr/>
            <a:r>
              <a:rPr sz="2800"/>
              <a:t>Professional organizations, government reports, reputable news outlets</a:t>
            </a:r>
          </a:p>
          <a:p>
            <a:pPr/>
            <a:r>
              <a:rPr sz="2800"/>
              <a:t>Use the CRAAP test (Currency, Relevance, Authority, Accuracy, Purpose) to vet each source</a:t>
            </a:r>
          </a:p>
          <a:p>
            <a:pPr/>
            <a:r>
              <a:rPr sz="2800"/>
              <a:t>Capture citation info as you go to save time later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800"/>
              <a:t>Next Steps</a:t>
            </a:r>
          </a:p>
        </p:txBody>
      </p:sp>
      <p:sp>
        <p:nvSpPr>
          <p:cNvPr id="3" name="Content Placeholder 2"/>
          <p:cNvSpPr>
            <a:spLocks noGrp="1"/>
          </p:cNvSpPr>
          <p:nvPr>
            <p:ph idx="1"/>
          </p:nvPr>
        </p:nvSpPr>
        <p:spPr/>
        <p:txBody>
          <a:bodyPr wrap="square">
            <a:normAutofit/>
          </a:bodyPr>
          <a:lstStyle/>
          <a:p>
            <a:pPr/>
            <a:r>
              <a:rPr sz="2800"/>
              <a:t>Finish the MLA practice document and upload or download a copy for feedback</a:t>
            </a:r>
          </a:p>
          <a:p>
            <a:pPr/>
            <a:r>
              <a:rPr sz="2800"/>
              <a:t>Submit 2-3 tentative research topics with one-sentence rationales</a:t>
            </a:r>
          </a:p>
          <a:p>
            <a:pPr/>
            <a:r>
              <a:rPr sz="2800"/>
              <a:t>Gather at least two credible sources per topic for next week's source review</a:t>
            </a:r>
          </a:p>
          <a:p>
            <a:pPr/>
            <a:r>
              <a:rPr sz="2800"/>
              <a:t>Keep using Purdue OWL as your reference whenever you cite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